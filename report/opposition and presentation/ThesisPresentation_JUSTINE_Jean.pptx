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35"/>
  </p:notesMasterIdLst>
  <p:handoutMasterIdLst>
    <p:handoutMasterId r:id="rId36"/>
  </p:handoutMasterIdLst>
  <p:sldIdLst>
    <p:sldId id="558" r:id="rId2"/>
    <p:sldId id="600" r:id="rId3"/>
    <p:sldId id="602" r:id="rId4"/>
    <p:sldId id="603" r:id="rId5"/>
    <p:sldId id="613" r:id="rId6"/>
    <p:sldId id="604" r:id="rId7"/>
    <p:sldId id="619" r:id="rId8"/>
    <p:sldId id="616" r:id="rId9"/>
    <p:sldId id="605" r:id="rId10"/>
    <p:sldId id="615" r:id="rId11"/>
    <p:sldId id="617" r:id="rId12"/>
    <p:sldId id="620" r:id="rId13"/>
    <p:sldId id="606" r:id="rId14"/>
    <p:sldId id="623" r:id="rId15"/>
    <p:sldId id="614" r:id="rId16"/>
    <p:sldId id="624" r:id="rId17"/>
    <p:sldId id="618" r:id="rId18"/>
    <p:sldId id="625" r:id="rId19"/>
    <p:sldId id="634" r:id="rId20"/>
    <p:sldId id="621" r:id="rId21"/>
    <p:sldId id="631" r:id="rId22"/>
    <p:sldId id="635" r:id="rId23"/>
    <p:sldId id="622" r:id="rId24"/>
    <p:sldId id="607" r:id="rId25"/>
    <p:sldId id="632" r:id="rId26"/>
    <p:sldId id="627" r:id="rId27"/>
    <p:sldId id="628" r:id="rId28"/>
    <p:sldId id="608" r:id="rId29"/>
    <p:sldId id="629" r:id="rId30"/>
    <p:sldId id="609" r:id="rId31"/>
    <p:sldId id="630" r:id="rId32"/>
    <p:sldId id="610" r:id="rId33"/>
    <p:sldId id="612" r:id="rId34"/>
  </p:sldIdLst>
  <p:sldSz cx="12192000" cy="6858000"/>
  <p:notesSz cx="6794500" cy="9906000"/>
  <p:defaultTextStyle>
    <a:defPPr>
      <a:defRPr lang="sv-SE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 Svensson (HV)" initials="BS(" lastIdx="1" clrIdx="0">
    <p:extLst>
      <p:ext uri="{19B8F6BF-5375-455C-9EA6-DF929625EA0E}">
        <p15:presenceInfo xmlns:p15="http://schemas.microsoft.com/office/powerpoint/2012/main" userId="S::tbsv@hv.se::47238593-df9c-43e6-9de3-ae0ac8fc03a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C0C0C0"/>
    <a:srgbClr val="FFFFFF"/>
    <a:srgbClr val="FFFF00"/>
    <a:srgbClr val="00CCFF"/>
    <a:srgbClr val="000000"/>
    <a:srgbClr val="FFCCCC"/>
    <a:srgbClr val="FFFFCC"/>
    <a:srgbClr val="96E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4349" autoAdjust="0"/>
  </p:normalViewPr>
  <p:slideViewPr>
    <p:cSldViewPr>
      <p:cViewPr varScale="1">
        <p:scale>
          <a:sx n="73" d="100"/>
          <a:sy n="73" d="100"/>
        </p:scale>
        <p:origin x="931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2184" y="120"/>
      </p:cViewPr>
      <p:guideLst>
        <p:guide orient="horz" pos="3120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3225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56" tIns="46829" rIns="93656" bIns="46829" numCol="1" anchor="t" anchorCtr="0" compatLnSpc="1">
            <a:prstTxWarp prst="textNoShape">
              <a:avLst/>
            </a:prstTxWarp>
          </a:bodyPr>
          <a:lstStyle>
            <a:lvl1pPr defTabSz="938213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3225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56" tIns="46829" rIns="93656" bIns="46829" numCol="1" anchor="t" anchorCtr="0" compatLnSpc="1">
            <a:prstTxWarp prst="textNoShape">
              <a:avLst/>
            </a:prstTxWarp>
          </a:bodyPr>
          <a:lstStyle>
            <a:lvl1pPr algn="r" defTabSz="938213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sv-SE" dirty="0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5938"/>
            <a:ext cx="2943225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56" tIns="46829" rIns="93656" bIns="46829" numCol="1" anchor="b" anchorCtr="0" compatLnSpc="1">
            <a:prstTxWarp prst="textNoShape">
              <a:avLst/>
            </a:prstTxWarp>
          </a:bodyPr>
          <a:lstStyle>
            <a:lvl1pPr defTabSz="938213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05938"/>
            <a:ext cx="2943225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56" tIns="46829" rIns="93656" bIns="46829" numCol="1" anchor="b" anchorCtr="0" compatLnSpc="1">
            <a:prstTxWarp prst="textNoShape">
              <a:avLst/>
            </a:prstTxWarp>
          </a:bodyPr>
          <a:lstStyle>
            <a:lvl1pPr algn="r" defTabSz="938213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3A434B02-4067-4251-9FEB-90A2938683C4}" type="slidenum">
              <a:rPr lang="sv-SE"/>
              <a:pPr>
                <a:defRPr/>
              </a:pPr>
              <a:t>‹N°›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333218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3225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56" tIns="46829" rIns="93656" bIns="46829" numCol="1" anchor="t" anchorCtr="0" compatLnSpc="1">
            <a:prstTxWarp prst="textNoShape">
              <a:avLst/>
            </a:prstTxWarp>
          </a:bodyPr>
          <a:lstStyle>
            <a:lvl1pPr defTabSz="938213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3225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56" tIns="46829" rIns="93656" bIns="46829" numCol="1" anchor="t" anchorCtr="0" compatLnSpc="1">
            <a:prstTxWarp prst="textNoShape">
              <a:avLst/>
            </a:prstTxWarp>
          </a:bodyPr>
          <a:lstStyle>
            <a:lvl1pPr algn="r" defTabSz="938213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sv-SE" dirty="0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" y="742950"/>
            <a:ext cx="6604000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06938"/>
            <a:ext cx="4981575" cy="44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56" tIns="46829" rIns="93656" bIns="468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05938"/>
            <a:ext cx="2943225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56" tIns="46829" rIns="93656" bIns="46829" numCol="1" anchor="b" anchorCtr="0" compatLnSpc="1">
            <a:prstTxWarp prst="textNoShape">
              <a:avLst/>
            </a:prstTxWarp>
          </a:bodyPr>
          <a:lstStyle>
            <a:lvl1pPr defTabSz="938213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05938"/>
            <a:ext cx="2943225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56" tIns="46829" rIns="93656" bIns="46829" numCol="1" anchor="b" anchorCtr="0" compatLnSpc="1">
            <a:prstTxWarp prst="textNoShape">
              <a:avLst/>
            </a:prstTxWarp>
          </a:bodyPr>
          <a:lstStyle>
            <a:lvl1pPr algn="r" defTabSz="938213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B97899B4-DE93-4D6C-A087-B8BA4D51C16C}" type="slidenum">
              <a:rPr lang="sv-SE"/>
              <a:pPr>
                <a:defRPr/>
              </a:pPr>
              <a:t>‹N°›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12665608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Do not change this slide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090925 ETFA2009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71832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All red text shall be replaced  AND changed to BLACK colour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97418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Describe the topic area of your degree project</a:t>
            </a:r>
          </a:p>
          <a:p>
            <a:r>
              <a:rPr lang="en-GB" noProof="0" dirty="0"/>
              <a:t>Introduce the audience in the </a:t>
            </a:r>
            <a:r>
              <a:rPr lang="en-GB" noProof="0" dirty="0" smtClean="0"/>
              <a:t>area</a:t>
            </a:r>
            <a:endParaRPr lang="en-GB" noProof="0" dirty="0"/>
          </a:p>
          <a:p>
            <a:r>
              <a:rPr lang="en-GB" noProof="0" dirty="0"/>
              <a:t>Short presentation of the work environment (PTW or industry) 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21379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Which are the main aims your degree project should answer</a:t>
            </a:r>
          </a:p>
          <a:p>
            <a:r>
              <a:rPr lang="en-GB" dirty="0"/>
              <a:t>It should be clear, concise, objective and</a:t>
            </a:r>
            <a:r>
              <a:rPr lang="en-GB" baseline="0" dirty="0"/>
              <a:t> </a:t>
            </a:r>
            <a:r>
              <a:rPr lang="en-GB" dirty="0"/>
              <a:t>focused</a:t>
            </a:r>
            <a:endParaRPr lang="en-GB" noProof="0" dirty="0"/>
          </a:p>
          <a:p>
            <a:r>
              <a:rPr lang="en-GB" noProof="0" dirty="0"/>
              <a:t>Why are these aims important to answer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12341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Which are the main aims your degree project should answer</a:t>
            </a:r>
          </a:p>
          <a:p>
            <a:r>
              <a:rPr lang="en-GB" dirty="0"/>
              <a:t>It should be clear, concise, objective and</a:t>
            </a:r>
            <a:r>
              <a:rPr lang="en-GB" baseline="0" dirty="0"/>
              <a:t> </a:t>
            </a:r>
            <a:r>
              <a:rPr lang="en-GB" dirty="0"/>
              <a:t>focused</a:t>
            </a:r>
            <a:endParaRPr lang="en-GB" noProof="0" dirty="0"/>
          </a:p>
          <a:p>
            <a:r>
              <a:rPr lang="en-GB" noProof="0" dirty="0"/>
              <a:t>Why are these aims important to answer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24157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Results from the literature study</a:t>
            </a:r>
          </a:p>
          <a:p>
            <a:r>
              <a:rPr lang="en-GB" noProof="0" dirty="0"/>
              <a:t>Relevant current research that is close to your topic</a:t>
            </a:r>
          </a:p>
          <a:p>
            <a:r>
              <a:rPr lang="en-GB" noProof="0" dirty="0"/>
              <a:t>Different theories that may apply to your work</a:t>
            </a:r>
          </a:p>
          <a:p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76562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The methods that you have chose and why</a:t>
            </a:r>
          </a:p>
          <a:p>
            <a:r>
              <a:rPr lang="en-GB" dirty="0"/>
              <a:t>How was the problem understood, characterized, </a:t>
            </a:r>
            <a:r>
              <a:rPr lang="en-GB" dirty="0" err="1"/>
              <a:t>analyzed</a:t>
            </a:r>
            <a:r>
              <a:rPr lang="en-GB" dirty="0"/>
              <a:t> or solved?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28441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The methods that you have chose and why</a:t>
            </a:r>
          </a:p>
          <a:p>
            <a:r>
              <a:rPr lang="en-GB" dirty="0"/>
              <a:t>How was the problem understood, characterized, </a:t>
            </a:r>
            <a:r>
              <a:rPr lang="en-GB" dirty="0" err="1"/>
              <a:t>analyzed</a:t>
            </a:r>
            <a:r>
              <a:rPr lang="en-GB" dirty="0"/>
              <a:t> or solved?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996872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The methods that you have chose and why</a:t>
            </a:r>
          </a:p>
          <a:p>
            <a:r>
              <a:rPr lang="en-GB" dirty="0"/>
              <a:t>How was the problem understood, characterized, </a:t>
            </a:r>
            <a:r>
              <a:rPr lang="en-GB" dirty="0" err="1"/>
              <a:t>analyzed</a:t>
            </a:r>
            <a:r>
              <a:rPr lang="en-GB" dirty="0"/>
              <a:t> or solved?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66413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The methods that you have chose and why</a:t>
            </a:r>
          </a:p>
          <a:p>
            <a:r>
              <a:rPr lang="en-GB" dirty="0"/>
              <a:t>How was the problem understood, characterized, </a:t>
            </a:r>
            <a:r>
              <a:rPr lang="en-GB" dirty="0" err="1"/>
              <a:t>analyzed</a:t>
            </a:r>
            <a:r>
              <a:rPr lang="en-GB" dirty="0"/>
              <a:t> or solved?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957162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The methods that you have chose and why</a:t>
            </a:r>
          </a:p>
          <a:p>
            <a:r>
              <a:rPr lang="en-GB" dirty="0"/>
              <a:t>How was the problem understood, characterized, </a:t>
            </a:r>
            <a:r>
              <a:rPr lang="en-GB" dirty="0" err="1"/>
              <a:t>analyzed</a:t>
            </a:r>
            <a:r>
              <a:rPr lang="en-GB" dirty="0"/>
              <a:t> or solved?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86395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The methods that you have chose and why</a:t>
            </a:r>
          </a:p>
          <a:p>
            <a:r>
              <a:rPr lang="en-GB" dirty="0"/>
              <a:t>How was the problem understood, characterized, </a:t>
            </a:r>
            <a:r>
              <a:rPr lang="en-GB" dirty="0" err="1"/>
              <a:t>analyzed</a:t>
            </a:r>
            <a:r>
              <a:rPr lang="en-GB" dirty="0"/>
              <a:t> or solved?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29272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Describe how you tackled the problem and worked on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Details of models, formulations</a:t>
            </a:r>
            <a:r>
              <a:rPr lang="en-GB" baseline="0" dirty="0"/>
              <a:t> and techniques applied into y</a:t>
            </a:r>
            <a:r>
              <a:rPr lang="en-GB" dirty="0"/>
              <a:t>our work (if applicable)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Provide a description of the experimental setting or set of data used to test (if applicable)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2336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Describe how you tackled the problem and worked on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Details of models, formulations</a:t>
            </a:r>
            <a:r>
              <a:rPr lang="en-GB" baseline="0" dirty="0"/>
              <a:t> and techniques applied into y</a:t>
            </a:r>
            <a:r>
              <a:rPr lang="en-GB" dirty="0"/>
              <a:t>our work (if applicable)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Provide a description of the experimental setting or set of data used to test (if applicable)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18979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Describe how you tackled the problem and worked on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Details of models, formulations</a:t>
            </a:r>
            <a:r>
              <a:rPr lang="en-GB" baseline="0" dirty="0"/>
              <a:t> and techniques applied into y</a:t>
            </a:r>
            <a:r>
              <a:rPr lang="en-GB" dirty="0"/>
              <a:t>our work (if applicable)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Provide a description of the experimental setting or set of data used to test (if applicable)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700011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Describe how you tackled the problem and worked on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Details of models, formulations</a:t>
            </a:r>
            <a:r>
              <a:rPr lang="en-GB" baseline="0" dirty="0"/>
              <a:t> and techniques applied into y</a:t>
            </a:r>
            <a:r>
              <a:rPr lang="en-GB" dirty="0"/>
              <a:t>our work (if applicable)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Provide a description of the experimental setting or set of data used to test (if applicable)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16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733438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Describe how you tackled the problem and worked on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Details of models, formulations</a:t>
            </a:r>
            <a:r>
              <a:rPr lang="en-GB" baseline="0" dirty="0"/>
              <a:t> and techniques applied into y</a:t>
            </a:r>
            <a:r>
              <a:rPr lang="en-GB" dirty="0"/>
              <a:t>our work (if applicable)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Provide a description of the experimental setting or set of data used to test (if applicable)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83643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Describe how you tackled the problem and worked on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Details of models, formulations</a:t>
            </a:r>
            <a:r>
              <a:rPr lang="en-GB" baseline="0" dirty="0"/>
              <a:t> and techniques applied into y</a:t>
            </a:r>
            <a:r>
              <a:rPr lang="en-GB" dirty="0"/>
              <a:t>our work (if applicable)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Provide a description of the experimental setting or set of data used to test (if applicable)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18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590083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Describe how you tackled the problem and worked on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Details of models, formulations</a:t>
            </a:r>
            <a:r>
              <a:rPr lang="en-GB" baseline="0" dirty="0"/>
              <a:t> and techniques applied into y</a:t>
            </a:r>
            <a:r>
              <a:rPr lang="en-GB" dirty="0"/>
              <a:t>our work (if applicable)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Provide a description of the experimental setting or set of data used to test (if applicable)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19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286144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Describe how you tackled the problem and worked on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Details of models, formulations</a:t>
            </a:r>
            <a:r>
              <a:rPr lang="en-GB" baseline="0" dirty="0"/>
              <a:t> and techniques applied into y</a:t>
            </a:r>
            <a:r>
              <a:rPr lang="en-GB" dirty="0"/>
              <a:t>our work (if applicable)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Provide a description of the experimental setting or set of data used to test (if applicable)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20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600401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Describe how you tackled the problem and worked on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Details of models, formulations</a:t>
            </a:r>
            <a:r>
              <a:rPr lang="en-GB" baseline="0" dirty="0"/>
              <a:t> and techniques applied into y</a:t>
            </a:r>
            <a:r>
              <a:rPr lang="en-GB" dirty="0"/>
              <a:t>our work (if applicable)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Provide a description of the experimental setting or set of data used to test (if applicable)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21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556944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Describe how you tackled the problem and worked on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Details of models, formulations</a:t>
            </a:r>
            <a:r>
              <a:rPr lang="en-GB" baseline="0" dirty="0"/>
              <a:t> and techniques applied into y</a:t>
            </a:r>
            <a:r>
              <a:rPr lang="en-GB" dirty="0"/>
              <a:t>our work (if applicable)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Provide a description of the experimental setting or set of data used to test (if applicable)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22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188127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Describe how you tackled the problem and worked on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Details of models, formulations</a:t>
            </a:r>
            <a:r>
              <a:rPr lang="en-GB" baseline="0" dirty="0"/>
              <a:t> and techniques applied into y</a:t>
            </a:r>
            <a:r>
              <a:rPr lang="en-GB" dirty="0"/>
              <a:t>our work (if applicable)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Provide a description of the experimental setting or set of data used to test (if applicable)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23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07703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This should give the audience a good understanding of what you have discovered during your work</a:t>
            </a:r>
          </a:p>
          <a:p>
            <a:r>
              <a:rPr lang="en-US" b="0" dirty="0"/>
              <a:t>The results should answer the question: What are the main findings acquired from the work? </a:t>
            </a:r>
            <a:endParaRPr lang="en-GB" b="0" noProof="0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24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072981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This should give the audience a good understanding of what you have discovered during your work</a:t>
            </a:r>
          </a:p>
          <a:p>
            <a:r>
              <a:rPr lang="en-US" b="0" dirty="0"/>
              <a:t>The results should answer the question: What are the main findings acquired from the work? </a:t>
            </a:r>
            <a:endParaRPr lang="en-GB" b="0" noProof="0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25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762131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This should give the audience a good understanding of what you have discovered during your work</a:t>
            </a:r>
          </a:p>
          <a:p>
            <a:r>
              <a:rPr lang="en-US" b="0" dirty="0"/>
              <a:t>The results should answer the question: What are the main findings acquired from the work? </a:t>
            </a:r>
            <a:endParaRPr lang="en-GB" b="0" noProof="0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26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810396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This should give the audience a good understanding of what you have discovered during your work</a:t>
            </a:r>
          </a:p>
          <a:p>
            <a:r>
              <a:rPr lang="en-US" b="0" dirty="0"/>
              <a:t>The results should answer the question: What are the main findings acquired from the work? </a:t>
            </a:r>
            <a:endParaRPr lang="en-GB" b="0" noProof="0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27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86023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Discuss how the results relate to your expected results and the results from the literature study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What are the recommendations based on your results in the work? For practitioners and scientific?</a:t>
            </a:r>
          </a:p>
          <a:p>
            <a:endParaRPr lang="en-GB" noProof="0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28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549708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Restate your works aim</a:t>
            </a:r>
          </a:p>
          <a:p>
            <a:r>
              <a:rPr lang="en-GB" noProof="0" dirty="0"/>
              <a:t>Show how your results fulfil this</a:t>
            </a:r>
          </a:p>
          <a:p>
            <a:r>
              <a:rPr lang="en-GB" noProof="0" dirty="0"/>
              <a:t>Show the contribution you have made</a:t>
            </a:r>
          </a:p>
          <a:p>
            <a:r>
              <a:rPr lang="en-GB" noProof="0" dirty="0"/>
              <a:t>State the limitations to the work you have made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29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455270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Restate your works aim</a:t>
            </a:r>
          </a:p>
          <a:p>
            <a:r>
              <a:rPr lang="en-GB" noProof="0" dirty="0"/>
              <a:t>Show how your results fulfil this</a:t>
            </a:r>
          </a:p>
          <a:p>
            <a:r>
              <a:rPr lang="en-GB" noProof="0" dirty="0"/>
              <a:t>Show the contribution you have made</a:t>
            </a:r>
          </a:p>
          <a:p>
            <a:r>
              <a:rPr lang="en-GB" noProof="0" dirty="0"/>
              <a:t>State the limitations to the work you have made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30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700369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Restate your works aim</a:t>
            </a:r>
          </a:p>
          <a:p>
            <a:r>
              <a:rPr lang="en-GB" noProof="0" dirty="0"/>
              <a:t>Show how your results fulfil this</a:t>
            </a:r>
          </a:p>
          <a:p>
            <a:r>
              <a:rPr lang="en-GB" noProof="0" dirty="0"/>
              <a:t>Show the contribution you have made</a:t>
            </a:r>
          </a:p>
          <a:p>
            <a:r>
              <a:rPr lang="en-GB" noProof="0" dirty="0"/>
              <a:t>State the limitations to the work you have made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31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248105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Suggest future work, research and/or industrial</a:t>
            </a:r>
          </a:p>
          <a:p>
            <a:endParaRPr lang="en-GB" noProof="0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32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037539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" y="742950"/>
            <a:ext cx="6604000" cy="3714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All red text shall be replaced  AND changed to BLACK colour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090925 ETFA2009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University West / BoS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7899B4-DE93-4D6C-A087-B8BA4D51C16C}" type="slidenum">
              <a:rPr lang="sv-SE" smtClean="0"/>
              <a:pPr>
                <a:defRPr/>
              </a:pPr>
              <a:t>33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17818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9" name="Rectangle 5"/>
          <p:cNvSpPr>
            <a:spLocks noGrp="1" noChangeArrowheads="1"/>
          </p:cNvSpPr>
          <p:nvPr>
            <p:ph type="ctrTitle"/>
          </p:nvPr>
        </p:nvSpPr>
        <p:spPr>
          <a:xfrm>
            <a:off x="423987" y="1052513"/>
            <a:ext cx="11344031" cy="309721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51910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423987" y="4149728"/>
            <a:ext cx="11344031" cy="187166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6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9589" y="5949280"/>
            <a:ext cx="1891067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15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3 Apr 2018</a:t>
            </a:r>
            <a:endParaRPr lang="sv-S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www.hv.se   -   Bo Svensson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572FD5-7352-4B41-AE9B-C0AED098AC31}" type="slidenum">
              <a:rPr lang="sv-SE" smtClean="0"/>
              <a:pPr/>
              <a:t>‹N°›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27197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511909" y="188916"/>
            <a:ext cx="11387015" cy="72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11924" y="1090613"/>
            <a:ext cx="10156092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9024816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3 Apr 2018</a:t>
            </a:r>
            <a:endParaRPr lang="sv-S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1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www.hv.se   -   Bo Svensson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263352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DA426-9653-4B0C-B703-BA86BA0E38AE}" type="slidenum">
              <a:rPr lang="sv-SE" smtClean="0"/>
              <a:pPr/>
              <a:t>‹N°›</a:t>
            </a:fld>
            <a:endParaRPr lang="sv-SE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9589" y="5949280"/>
            <a:ext cx="1891067" cy="7920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59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</a:defRPr>
      </a:lvl5pPr>
      <a:lvl6pPr marL="457212" algn="ctr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</a:defRPr>
      </a:lvl6pPr>
      <a:lvl7pPr marL="914423" algn="ctr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</a:defRPr>
      </a:lvl7pPr>
      <a:lvl8pPr marL="1371634" algn="ctr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</a:defRPr>
      </a:lvl8pPr>
      <a:lvl9pPr marL="1828846" algn="ctr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</a:defRPr>
      </a:lvl9pPr>
    </p:titleStyle>
    <p:bodyStyle>
      <a:lvl1pPr marL="342908" indent="-342908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lr>
          <a:srgbClr val="3CA7D8"/>
        </a:buClr>
        <a:buSzPct val="130000"/>
        <a:buFont typeface="Arial" charset="0"/>
        <a:buChar char="•"/>
        <a:defRPr sz="28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69" indent="-285757" algn="l" rtl="0" eaLnBrk="0" fontAlgn="base" hangingPunct="0">
        <a:spcBef>
          <a:spcPct val="20000"/>
        </a:spcBef>
        <a:spcAft>
          <a:spcPct val="0"/>
        </a:spcAft>
        <a:buClr>
          <a:srgbClr val="3CA7D8"/>
        </a:buClr>
        <a:buFont typeface="Arial" charset="0"/>
        <a:buChar char="–"/>
        <a:defRPr sz="2000">
          <a:solidFill>
            <a:schemeClr val="tx1"/>
          </a:solidFill>
          <a:latin typeface="Calibri" panose="020F0502020204030204" pitchFamily="34" charset="0"/>
        </a:defRPr>
      </a:lvl2pPr>
      <a:lvl3pPr marL="1143028" indent="-228606" algn="l" rtl="0" eaLnBrk="0" fontAlgn="base" hangingPunct="0">
        <a:spcBef>
          <a:spcPct val="20000"/>
        </a:spcBef>
        <a:spcAft>
          <a:spcPct val="0"/>
        </a:spcAft>
        <a:buClr>
          <a:srgbClr val="3CA7D8"/>
        </a:buClr>
        <a:buFont typeface="Arial" charset="0"/>
        <a:buChar char="–"/>
        <a:defRPr sz="1600">
          <a:solidFill>
            <a:schemeClr val="tx1"/>
          </a:solidFill>
          <a:latin typeface="Calibri" panose="020F0502020204030204" pitchFamily="34" charset="0"/>
        </a:defRPr>
      </a:lvl3pPr>
      <a:lvl4pPr marL="1600240" indent="-228606" algn="l" rtl="0" eaLnBrk="0" fontAlgn="base" hangingPunct="0">
        <a:spcBef>
          <a:spcPct val="20000"/>
        </a:spcBef>
        <a:spcAft>
          <a:spcPct val="0"/>
        </a:spcAft>
        <a:buClr>
          <a:srgbClr val="3CA7D8"/>
        </a:buClr>
        <a:buFont typeface="Arial" charset="0"/>
        <a:buChar char="–"/>
        <a:defRPr sz="1600">
          <a:solidFill>
            <a:schemeClr val="tx1"/>
          </a:solidFill>
          <a:latin typeface="Calibri" panose="020F0502020204030204" pitchFamily="34" charset="0"/>
        </a:defRPr>
      </a:lvl4pPr>
      <a:lvl5pPr marL="2057452" indent="-228606" algn="l" rtl="0" eaLnBrk="0" fontAlgn="base" hangingPunct="0">
        <a:spcBef>
          <a:spcPct val="20000"/>
        </a:spcBef>
        <a:spcAft>
          <a:spcPct val="0"/>
        </a:spcAft>
        <a:buClr>
          <a:srgbClr val="3CA7D8"/>
        </a:buClr>
        <a:buFont typeface="Arial" charset="0"/>
        <a:buChar char="–"/>
        <a:defRPr sz="1600">
          <a:solidFill>
            <a:schemeClr val="tx1"/>
          </a:solidFill>
          <a:latin typeface="Calibri" panose="020F0502020204030204" pitchFamily="34" charset="0"/>
        </a:defRPr>
      </a:lvl5pPr>
      <a:lvl6pPr marL="2514663" indent="-228606" algn="l" rtl="0" fontAlgn="base">
        <a:spcBef>
          <a:spcPct val="20000"/>
        </a:spcBef>
        <a:spcAft>
          <a:spcPct val="0"/>
        </a:spcAft>
        <a:buClr>
          <a:srgbClr val="3CA7D8"/>
        </a:buClr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74" indent="-228606" algn="l" rtl="0" fontAlgn="base">
        <a:spcBef>
          <a:spcPct val="20000"/>
        </a:spcBef>
        <a:spcAft>
          <a:spcPct val="0"/>
        </a:spcAft>
        <a:buClr>
          <a:srgbClr val="3CA7D8"/>
        </a:buClr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86" indent="-228606" algn="l" rtl="0" fontAlgn="base">
        <a:spcBef>
          <a:spcPct val="20000"/>
        </a:spcBef>
        <a:spcAft>
          <a:spcPct val="0"/>
        </a:spcAft>
        <a:buClr>
          <a:srgbClr val="3CA7D8"/>
        </a:buClr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97" indent="-228606" algn="l" rtl="0" fontAlgn="base">
        <a:spcBef>
          <a:spcPct val="20000"/>
        </a:spcBef>
        <a:spcAft>
          <a:spcPct val="0"/>
        </a:spcAft>
        <a:buClr>
          <a:srgbClr val="3CA7D8"/>
        </a:buClr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722602" y="1052512"/>
            <a:ext cx="5990021" cy="4680744"/>
          </a:xfrm>
        </p:spPr>
        <p:txBody>
          <a:bodyPr/>
          <a:lstStyle/>
          <a:p>
            <a:r>
              <a:rPr lang="en-US" sz="6000" dirty="0">
                <a:solidFill>
                  <a:schemeClr val="tx1"/>
                </a:solidFill>
              </a:rPr>
              <a:t>Degree project</a:t>
            </a:r>
            <a:br>
              <a:rPr lang="en-US" sz="6000" dirty="0">
                <a:solidFill>
                  <a:schemeClr val="tx1"/>
                </a:solidFill>
              </a:rPr>
            </a:br>
            <a:r>
              <a:rPr lang="en-US" sz="6000" dirty="0">
                <a:solidFill>
                  <a:schemeClr val="tx1"/>
                </a:solidFill>
              </a:rPr>
              <a:t> presentation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University West</a:t>
            </a:r>
            <a:br>
              <a:rPr lang="en-US" sz="4800" dirty="0"/>
            </a:br>
            <a:r>
              <a:rPr lang="en-US" dirty="0"/>
              <a:t/>
            </a:r>
            <a:br>
              <a:rPr lang="en-US" dirty="0"/>
            </a:br>
            <a:r>
              <a:rPr lang="en-US" sz="3600" b="0" dirty="0">
                <a:solidFill>
                  <a:schemeClr val="tx1"/>
                </a:solidFill>
              </a:rPr>
              <a:t>Trollhättan, Sweden</a:t>
            </a:r>
            <a:br>
              <a:rPr lang="en-US" sz="3600" b="0" dirty="0">
                <a:solidFill>
                  <a:schemeClr val="tx1"/>
                </a:solidFill>
              </a:rPr>
            </a:br>
            <a:r>
              <a:rPr lang="en-US" sz="3600" b="0" dirty="0">
                <a:solidFill>
                  <a:schemeClr val="tx1"/>
                </a:solidFill>
              </a:rPr>
              <a:t/>
            </a:r>
            <a:br>
              <a:rPr lang="en-US" sz="3600" b="0" dirty="0">
                <a:solidFill>
                  <a:schemeClr val="tx1"/>
                </a:solidFill>
              </a:rPr>
            </a:br>
            <a:r>
              <a:rPr lang="en-US" sz="3600" b="0" dirty="0">
                <a:solidFill>
                  <a:schemeClr val="tx1"/>
                </a:solidFill>
              </a:rPr>
              <a:t/>
            </a:r>
            <a:br>
              <a:rPr lang="en-US" sz="3600" b="0" dirty="0">
                <a:solidFill>
                  <a:schemeClr val="tx1"/>
                </a:solidFill>
              </a:rPr>
            </a:br>
            <a:r>
              <a:rPr lang="en-US" sz="2000" b="0" dirty="0">
                <a:solidFill>
                  <a:schemeClr val="tx1"/>
                </a:solidFill>
              </a:rPr>
              <a:t>www.hv.se/en </a:t>
            </a:r>
            <a:endParaRPr lang="en-GB" sz="2000" b="0" dirty="0">
              <a:solidFill>
                <a:schemeClr val="tx1"/>
              </a:solidFill>
            </a:endParaRPr>
          </a:p>
        </p:txBody>
      </p:sp>
      <p:pic>
        <p:nvPicPr>
          <p:cNvPr id="6" name="Picture Placeholder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1" r="3681"/>
          <a:stretch>
            <a:fillRect/>
          </a:stretch>
        </p:blipFill>
        <p:spPr>
          <a:xfrm>
            <a:off x="695400" y="0"/>
            <a:ext cx="4538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6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D6654A8-51D3-4184-AC0F-14ACB528C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1BCB3CC-60A3-4C7F-912B-F79CD1BF2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4400" dirty="0" smtClean="0"/>
              <a:t>Enhancing </a:t>
            </a:r>
            <a:r>
              <a:rPr lang="en-GB" sz="4400" dirty="0"/>
              <a:t>Efficiency in Metal 3D Printing Through Heat Simulation and AI </a:t>
            </a:r>
            <a:endParaRPr lang="en-GB" sz="4400" dirty="0" smtClean="0"/>
          </a:p>
          <a:p>
            <a:pPr marL="0" indent="0">
              <a:buNone/>
            </a:pPr>
            <a:r>
              <a:rPr lang="en-GB" dirty="0" smtClean="0"/>
              <a:t>Justine Jean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Production Technology West 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Master </a:t>
            </a:r>
            <a:r>
              <a:rPr lang="en-GB" dirty="0"/>
              <a:t>in </a:t>
            </a:r>
            <a:r>
              <a:rPr lang="en-GB" dirty="0" smtClean="0"/>
              <a:t>AI </a:t>
            </a:r>
            <a:r>
              <a:rPr lang="en-GB" dirty="0"/>
              <a:t>and Automation Degree project, </a:t>
            </a:r>
            <a:r>
              <a:rPr lang="en-GB" dirty="0" smtClean="0"/>
              <a:t>21 </a:t>
            </a:r>
            <a:r>
              <a:rPr lang="en-GB" dirty="0"/>
              <a:t>ECTS credits</a:t>
            </a:r>
          </a:p>
          <a:p>
            <a:pPr marL="0" indent="0">
              <a:buNone/>
            </a:pPr>
            <a:r>
              <a:rPr lang="en-GB" sz="1800" dirty="0"/>
              <a:t>University West, Dep of Production System</a:t>
            </a:r>
          </a:p>
          <a:p>
            <a:pPr marL="0" indent="0">
              <a:buNone/>
            </a:pPr>
            <a:r>
              <a:rPr lang="en-GB" sz="1800" dirty="0" err="1"/>
              <a:t>Trollhättan</a:t>
            </a:r>
            <a:r>
              <a:rPr lang="en-GB" sz="1800" dirty="0"/>
              <a:t>, Sweden</a:t>
            </a:r>
          </a:p>
          <a:p>
            <a:pPr marL="0" indent="0">
              <a:buNone/>
            </a:pPr>
            <a:r>
              <a:rPr lang="en-GB" sz="1800" dirty="0"/>
              <a:t>Date: </a:t>
            </a:r>
            <a:r>
              <a:rPr lang="en-GB" sz="1800" dirty="0" smtClean="0"/>
              <a:t>2025-06-02</a:t>
            </a:r>
            <a:endParaRPr lang="en-GB" sz="1800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9910A9FC-6BBC-4DB0-BA1A-CA62F6AAF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2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33176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D0EA78D-6541-450A-86FC-F22E1BA1A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ECF2AC0-8ED3-46B6-8695-DA1D6FF71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370" y="1069900"/>
            <a:ext cx="10156092" cy="5181600"/>
          </a:xfrm>
        </p:spPr>
        <p:txBody>
          <a:bodyPr/>
          <a:lstStyle/>
          <a:p>
            <a:r>
              <a:rPr lang="en-GB" dirty="0" smtClean="0"/>
              <a:t>Metal 3d printing and its industrial significance</a:t>
            </a:r>
          </a:p>
          <a:p>
            <a:r>
              <a:rPr lang="en-GB" noProof="0" dirty="0" smtClean="0"/>
              <a:t>Overview of Wire Arc </a:t>
            </a:r>
            <a:r>
              <a:rPr lang="en-GB" dirty="0"/>
              <a:t>A</a:t>
            </a:r>
            <a:r>
              <a:rPr lang="en-GB" noProof="0" dirty="0" err="1" smtClean="0"/>
              <a:t>dditive</a:t>
            </a:r>
            <a:r>
              <a:rPr lang="en-GB" noProof="0" dirty="0" smtClean="0"/>
              <a:t> Manufacturing (WAAM)</a:t>
            </a:r>
          </a:p>
          <a:p>
            <a:r>
              <a:rPr lang="en-GB" noProof="0" dirty="0" smtClean="0"/>
              <a:t>Importance of thermal Management </a:t>
            </a:r>
          </a:p>
          <a:p>
            <a:r>
              <a:rPr lang="en-GB" dirty="0" smtClean="0"/>
              <a:t>Work remotely from PTW, using Robot Studio and python</a:t>
            </a:r>
            <a:endParaRPr lang="en-GB" noProof="0" dirty="0"/>
          </a:p>
          <a:p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7D36B75-D247-4EEA-84F2-FF96A4C7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6348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FD39276-E4A4-4113-8E6C-2FE402A2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Aims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68C339A-8341-4706-89B8-050150282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4</a:t>
            </a:fld>
            <a:endParaRPr lang="sv-SE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idx="1"/>
          </p:nvPr>
        </p:nvSpPr>
        <p:spPr bwMode="auto">
          <a:xfrm>
            <a:off x="581129" y="1340768"/>
            <a:ext cx="11610871" cy="259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latinLnBrk="0">
              <a:tabLst/>
            </a:pPr>
            <a:r>
              <a:rPr lang="fr-FR" altLang="fr-FR" dirty="0" err="1"/>
              <a:t>Develop</a:t>
            </a:r>
            <a:r>
              <a:rPr lang="fr-FR" altLang="fr-FR" dirty="0"/>
              <a:t> a </a:t>
            </a:r>
            <a:r>
              <a:rPr lang="fr-FR" altLang="fr-FR" dirty="0" err="1"/>
              <a:t>realistic</a:t>
            </a:r>
            <a:r>
              <a:rPr lang="fr-FR" altLang="fr-FR" dirty="0"/>
              <a:t>, </a:t>
            </a:r>
            <a:r>
              <a:rPr lang="fr-FR" altLang="fr-FR" dirty="0" err="1"/>
              <a:t>physics-based</a:t>
            </a:r>
            <a:r>
              <a:rPr lang="fr-FR" altLang="fr-FR" dirty="0"/>
              <a:t> simulation model for WAAM</a:t>
            </a:r>
          </a:p>
          <a:p>
            <a:pPr marR="0" lvl="0" defTabSz="914400" latinLnBrk="0">
              <a:tabLst/>
            </a:pPr>
            <a:r>
              <a:rPr lang="fr-FR" altLang="fr-FR" dirty="0" err="1"/>
              <a:t>Implement</a:t>
            </a:r>
            <a:r>
              <a:rPr lang="fr-FR" altLang="fr-FR" dirty="0"/>
              <a:t> an </a:t>
            </a:r>
            <a:r>
              <a:rPr lang="fr-FR" altLang="fr-FR" dirty="0" err="1"/>
              <a:t>accurate</a:t>
            </a:r>
            <a:r>
              <a:rPr lang="fr-FR" altLang="fr-FR" dirty="0"/>
              <a:t> </a:t>
            </a:r>
            <a:r>
              <a:rPr lang="fr-FR" altLang="fr-FR" dirty="0" err="1"/>
              <a:t>voxel-based</a:t>
            </a:r>
            <a:r>
              <a:rPr lang="fr-FR" altLang="fr-FR" dirty="0"/>
              <a:t> </a:t>
            </a:r>
            <a:r>
              <a:rPr lang="fr-FR" altLang="fr-FR" dirty="0" err="1"/>
              <a:t>representation</a:t>
            </a:r>
            <a:r>
              <a:rPr lang="fr-FR" altLang="fr-FR" dirty="0"/>
              <a:t> of </a:t>
            </a:r>
            <a:r>
              <a:rPr lang="fr-FR" altLang="fr-FR" dirty="0" err="1"/>
              <a:t>printed</a:t>
            </a:r>
            <a:r>
              <a:rPr lang="fr-FR" altLang="fr-FR" dirty="0"/>
              <a:t> </a:t>
            </a:r>
            <a:r>
              <a:rPr lang="fr-FR" altLang="fr-FR" dirty="0" err="1"/>
              <a:t>pieces</a:t>
            </a:r>
            <a:endParaRPr lang="fr-FR" altLang="fr-FR" dirty="0"/>
          </a:p>
          <a:p>
            <a:pPr marR="0" lvl="0" defTabSz="914400" latinLnBrk="0">
              <a:tabLst/>
            </a:pPr>
            <a:r>
              <a:rPr lang="fr-FR" altLang="fr-FR" dirty="0" err="1"/>
              <a:t>Perform</a:t>
            </a:r>
            <a:r>
              <a:rPr lang="fr-FR" altLang="fr-FR" dirty="0"/>
              <a:t> thermal simulations to </a:t>
            </a:r>
            <a:r>
              <a:rPr lang="fr-FR" altLang="fr-FR" dirty="0" err="1"/>
              <a:t>optimize</a:t>
            </a:r>
            <a:r>
              <a:rPr lang="fr-FR" altLang="fr-FR" dirty="0"/>
              <a:t> printing </a:t>
            </a:r>
            <a:r>
              <a:rPr lang="fr-FR" altLang="fr-FR" dirty="0" err="1"/>
              <a:t>sequences</a:t>
            </a:r>
            <a:endParaRPr lang="fr-FR" altLang="fr-FR" dirty="0"/>
          </a:p>
          <a:p>
            <a:pPr marR="0" lvl="0" defTabSz="914400" latinLnBrk="0">
              <a:tabLst/>
            </a:pPr>
            <a:r>
              <a:rPr lang="fr-FR" altLang="fr-FR" dirty="0"/>
              <a:t>Use </a:t>
            </a:r>
            <a:r>
              <a:rPr lang="fr-FR" altLang="fr-FR" dirty="0" err="1"/>
              <a:t>Reinforcement</a:t>
            </a:r>
            <a:r>
              <a:rPr lang="fr-FR" altLang="fr-FR" dirty="0"/>
              <a:t> Learning (RL) to </a:t>
            </a:r>
            <a:r>
              <a:rPr lang="fr-FR" altLang="fr-FR" dirty="0" err="1"/>
              <a:t>autonomously</a:t>
            </a:r>
            <a:r>
              <a:rPr lang="fr-FR" altLang="fr-FR" dirty="0"/>
              <a:t> </a:t>
            </a:r>
            <a:r>
              <a:rPr lang="fr-FR" altLang="fr-FR" dirty="0" err="1"/>
              <a:t>improve</a:t>
            </a:r>
            <a:r>
              <a:rPr lang="fr-FR" altLang="fr-FR" dirty="0"/>
              <a:t> </a:t>
            </a:r>
            <a:r>
              <a:rPr lang="fr-FR" altLang="fr-FR" dirty="0" err="1"/>
              <a:t>build</a:t>
            </a:r>
            <a:r>
              <a:rPr lang="fr-FR" altLang="fr-FR" dirty="0"/>
              <a:t> </a:t>
            </a:r>
            <a:r>
              <a:rPr lang="fr-FR" altLang="fr-FR" dirty="0" err="1"/>
              <a:t>sequences</a:t>
            </a:r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249367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FD39276-E4A4-4113-8E6C-2FE402A2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C417C8A-DEF3-4C1E-9B5A-4B9BBCBE4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Importance of those aims :</a:t>
            </a:r>
          </a:p>
          <a:p>
            <a:r>
              <a:rPr lang="en-GB" dirty="0" smtClean="0"/>
              <a:t>Realism</a:t>
            </a:r>
          </a:p>
          <a:p>
            <a:r>
              <a:rPr lang="en-GB" dirty="0" smtClean="0"/>
              <a:t>Flexible</a:t>
            </a:r>
          </a:p>
          <a:p>
            <a:r>
              <a:rPr lang="en-US" dirty="0"/>
              <a:t>Enhance </a:t>
            </a:r>
            <a:r>
              <a:rPr lang="en-US" dirty="0" smtClean="0"/>
              <a:t>productivity </a:t>
            </a:r>
            <a:r>
              <a:rPr lang="en-US" dirty="0"/>
              <a:t>quality, and reduce production time</a:t>
            </a:r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68C339A-8341-4706-89B8-050150282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5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78226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2285A90-51A9-4CC4-848F-C5A6D1158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9DF001E-FC6C-4A28-84F7-70E6C0259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370" y="1102771"/>
            <a:ext cx="10156092" cy="5181600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Results from the literature </a:t>
            </a:r>
            <a:r>
              <a:rPr lang="en-GB" noProof="0" dirty="0" smtClean="0"/>
              <a:t>study:</a:t>
            </a:r>
          </a:p>
          <a:p>
            <a:pPr lvl="0"/>
            <a:r>
              <a:rPr lang="fr-FR" altLang="fr-FR" dirty="0" smtClean="0"/>
              <a:t>Fundamentals of WAAM and Direct </a:t>
            </a:r>
            <a:r>
              <a:rPr lang="fr-FR" altLang="fr-FR" dirty="0" err="1" smtClean="0"/>
              <a:t>Energy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Deposition</a:t>
            </a:r>
            <a:r>
              <a:rPr lang="fr-FR" altLang="fr-FR" dirty="0" smtClean="0"/>
              <a:t> (DED)</a:t>
            </a:r>
          </a:p>
          <a:p>
            <a:pPr lvl="0"/>
            <a:r>
              <a:rPr lang="fr-FR" altLang="fr-FR" dirty="0" smtClean="0"/>
              <a:t>Thermal </a:t>
            </a:r>
            <a:r>
              <a:rPr lang="fr-FR" altLang="fr-FR" dirty="0" err="1" smtClean="0"/>
              <a:t>behavior</a:t>
            </a:r>
            <a:r>
              <a:rPr lang="fr-FR" altLang="fr-FR" dirty="0" smtClean="0"/>
              <a:t> challenges in </a:t>
            </a:r>
            <a:r>
              <a:rPr lang="fr-FR" altLang="fr-FR" dirty="0" err="1" smtClean="0"/>
              <a:t>metal</a:t>
            </a:r>
            <a:r>
              <a:rPr lang="fr-FR" altLang="fr-FR" dirty="0" smtClean="0"/>
              <a:t> 3D printing</a:t>
            </a:r>
          </a:p>
          <a:p>
            <a:pPr lvl="0"/>
            <a:r>
              <a:rPr lang="fr-FR" altLang="fr-FR" dirty="0" err="1"/>
              <a:t>Voxel-based</a:t>
            </a:r>
            <a:r>
              <a:rPr lang="fr-FR" altLang="fr-FR" dirty="0"/>
              <a:t> </a:t>
            </a:r>
            <a:r>
              <a:rPr lang="fr-FR" altLang="fr-FR" dirty="0" err="1"/>
              <a:t>geometric</a:t>
            </a:r>
            <a:r>
              <a:rPr lang="fr-FR" altLang="fr-FR" dirty="0"/>
              <a:t> </a:t>
            </a:r>
            <a:r>
              <a:rPr lang="fr-FR" altLang="fr-FR" dirty="0" err="1"/>
              <a:t>discretization</a:t>
            </a:r>
            <a:r>
              <a:rPr lang="fr-FR" altLang="fr-FR" dirty="0"/>
              <a:t> and </a:t>
            </a:r>
            <a:r>
              <a:rPr lang="fr-FR" altLang="fr-FR" dirty="0" err="1"/>
              <a:t>its</a:t>
            </a:r>
            <a:r>
              <a:rPr lang="fr-FR" altLang="fr-FR" dirty="0"/>
              <a:t> </a:t>
            </a:r>
            <a:r>
              <a:rPr lang="fr-FR" altLang="fr-FR" dirty="0" err="1"/>
              <a:t>role</a:t>
            </a:r>
            <a:r>
              <a:rPr lang="fr-FR" altLang="fr-FR" dirty="0"/>
              <a:t> in thermal simulations</a:t>
            </a:r>
          </a:p>
          <a:p>
            <a:pPr lvl="0"/>
            <a:r>
              <a:rPr lang="fr-FR" altLang="fr-FR" dirty="0" err="1"/>
              <a:t>Reinforcement</a:t>
            </a:r>
            <a:r>
              <a:rPr lang="fr-FR" altLang="fr-FR" dirty="0"/>
              <a:t> Learning applications in additive </a:t>
            </a:r>
            <a:r>
              <a:rPr lang="fr-FR" altLang="fr-FR" dirty="0" err="1" smtClean="0"/>
              <a:t>manufacturing</a:t>
            </a:r>
            <a:endParaRPr lang="fr-FR" altLang="fr-FR" dirty="0" smtClean="0"/>
          </a:p>
          <a:p>
            <a:r>
              <a:rPr lang="fr-FR" altLang="fr-FR" dirty="0" err="1"/>
              <a:t>Robotic</a:t>
            </a:r>
            <a:r>
              <a:rPr lang="fr-FR" altLang="fr-FR" dirty="0"/>
              <a:t> simulation techniques in ABB </a:t>
            </a:r>
            <a:r>
              <a:rPr lang="fr-FR" altLang="fr-FR" dirty="0" err="1"/>
              <a:t>RobotStudio</a:t>
            </a:r>
            <a:endParaRPr lang="en-GB" dirty="0"/>
          </a:p>
          <a:p>
            <a:pPr lvl="0"/>
            <a:endParaRPr lang="fr-FR" altLang="fr-FR" dirty="0">
              <a:solidFill>
                <a:srgbClr val="FF0000"/>
              </a:solidFill>
            </a:endParaRPr>
          </a:p>
          <a:p>
            <a:endParaRPr lang="en-GB" dirty="0">
              <a:solidFill>
                <a:srgbClr val="FF0000"/>
              </a:solidFill>
            </a:endParaRPr>
          </a:p>
          <a:p>
            <a:endParaRPr lang="en-GB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23D17EF-69BB-474E-B13E-F6546F45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6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8372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7B490F2-56C5-47B1-9DE5-FDECCCE0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1F5A3A0-CE93-4013-A5F0-BB554CFCB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Methods </a:t>
            </a:r>
            <a:r>
              <a:rPr lang="en-GB" dirty="0"/>
              <a:t>Chosen:</a:t>
            </a:r>
          </a:p>
          <a:p>
            <a:r>
              <a:rPr lang="fr-FR" dirty="0"/>
              <a:t>ABB </a:t>
            </a:r>
            <a:r>
              <a:rPr lang="fr-FR" dirty="0" err="1"/>
              <a:t>RobotStudio</a:t>
            </a:r>
            <a:r>
              <a:rPr lang="fr-FR" dirty="0"/>
              <a:t> for </a:t>
            </a:r>
            <a:r>
              <a:rPr lang="fr-FR" dirty="0" err="1"/>
              <a:t>virtual</a:t>
            </a:r>
            <a:r>
              <a:rPr lang="fr-FR" dirty="0"/>
              <a:t> WAAM </a:t>
            </a:r>
            <a:r>
              <a:rPr lang="fr-FR" dirty="0" err="1"/>
              <a:t>environment</a:t>
            </a:r>
            <a:r>
              <a:rPr lang="fr-FR" dirty="0"/>
              <a:t> setup</a:t>
            </a:r>
            <a:endParaRPr lang="en-GB" dirty="0"/>
          </a:p>
          <a:p>
            <a:r>
              <a:rPr lang="en-GB" dirty="0" smtClean="0"/>
              <a:t>Voxel-based </a:t>
            </a:r>
            <a:r>
              <a:rPr lang="en-GB" dirty="0"/>
              <a:t>geometry pipeline for accurate geometry representation</a:t>
            </a:r>
          </a:p>
          <a:p>
            <a:r>
              <a:rPr lang="en-GB" dirty="0"/>
              <a:t>Heat Simulation model using a given Heat equation</a:t>
            </a:r>
          </a:p>
          <a:p>
            <a:r>
              <a:rPr lang="en-GB" dirty="0"/>
              <a:t>Integration of RL model (Q-Learning) for path </a:t>
            </a:r>
            <a:r>
              <a:rPr lang="en-GB" dirty="0" smtClean="0"/>
              <a:t>optimization</a:t>
            </a:r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5F6B68B-E64C-4D38-A8BC-63EB83F7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7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9337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7B490F2-56C5-47B1-9DE5-FDECCCE0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1F5A3A0-CE93-4013-A5F0-BB554CFCB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090613"/>
            <a:ext cx="11432656" cy="51816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How was the problem understood, characterized, </a:t>
            </a:r>
            <a:r>
              <a:rPr lang="en-GB" dirty="0" err="1"/>
              <a:t>analyzed</a:t>
            </a:r>
            <a:r>
              <a:rPr lang="en-GB" dirty="0"/>
              <a:t> </a:t>
            </a:r>
            <a:r>
              <a:rPr lang="en-GB" dirty="0" smtClean="0"/>
              <a:t>and </a:t>
            </a:r>
            <a:r>
              <a:rPr lang="en-GB" dirty="0" smtClean="0"/>
              <a:t>solved:</a:t>
            </a:r>
            <a:endParaRPr lang="en-GB" dirty="0"/>
          </a:p>
          <a:p>
            <a:pPr marL="0" lvl="0" indent="0">
              <a:buNone/>
            </a:pPr>
            <a:r>
              <a:rPr lang="fr-FR" altLang="fr-FR" b="1" dirty="0" err="1"/>
              <a:t>Understood</a:t>
            </a:r>
            <a:r>
              <a:rPr lang="fr-FR" altLang="fr-FR" dirty="0"/>
              <a:t> the challenges of WAAM (</a:t>
            </a:r>
            <a:r>
              <a:rPr lang="fr-FR" altLang="fr-FR" dirty="0" err="1"/>
              <a:t>heat</a:t>
            </a:r>
            <a:r>
              <a:rPr lang="fr-FR" altLang="fr-FR" dirty="0"/>
              <a:t> management &amp; </a:t>
            </a:r>
            <a:r>
              <a:rPr lang="fr-FR" altLang="fr-FR" dirty="0" err="1"/>
              <a:t>optimization</a:t>
            </a:r>
            <a:r>
              <a:rPr lang="fr-FR" altLang="fr-FR" dirty="0"/>
              <a:t>).</a:t>
            </a:r>
          </a:p>
          <a:p>
            <a:pPr marL="0" lvl="0" indent="0">
              <a:buNone/>
            </a:pPr>
            <a:r>
              <a:rPr lang="fr-FR" altLang="fr-FR" b="1" dirty="0" err="1"/>
              <a:t>Characterized</a:t>
            </a:r>
            <a:r>
              <a:rPr lang="fr-FR" altLang="fr-FR" dirty="0"/>
              <a:t> the </a:t>
            </a:r>
            <a:r>
              <a:rPr lang="fr-FR" altLang="fr-FR" dirty="0" err="1"/>
              <a:t>problem</a:t>
            </a:r>
            <a:r>
              <a:rPr lang="fr-FR" altLang="fr-FR" dirty="0"/>
              <a:t> by </a:t>
            </a:r>
            <a:r>
              <a:rPr lang="fr-FR" altLang="fr-FR" dirty="0" err="1"/>
              <a:t>focusing</a:t>
            </a:r>
            <a:r>
              <a:rPr lang="fr-FR" altLang="fr-FR" dirty="0"/>
              <a:t> on thermal </a:t>
            </a:r>
            <a:r>
              <a:rPr lang="fr-FR" altLang="fr-FR" dirty="0" err="1"/>
              <a:t>properties</a:t>
            </a:r>
            <a:r>
              <a:rPr lang="fr-FR" altLang="fr-FR" dirty="0"/>
              <a:t> and </a:t>
            </a:r>
            <a:r>
              <a:rPr lang="fr-FR" altLang="fr-FR" dirty="0" err="1"/>
              <a:t>scheduling</a:t>
            </a:r>
            <a:r>
              <a:rPr lang="fr-FR" altLang="fr-FR" dirty="0"/>
              <a:t> </a:t>
            </a:r>
            <a:r>
              <a:rPr lang="fr-FR" altLang="fr-FR" dirty="0" err="1"/>
              <a:t>inefficiencies</a:t>
            </a:r>
            <a:r>
              <a:rPr lang="fr-FR" altLang="fr-FR" dirty="0"/>
              <a:t>.</a:t>
            </a:r>
          </a:p>
          <a:p>
            <a:pPr marL="0" lvl="0" indent="0">
              <a:buNone/>
            </a:pPr>
            <a:r>
              <a:rPr lang="fr-FR" altLang="fr-FR" b="1" dirty="0" err="1"/>
              <a:t>Analyzed</a:t>
            </a:r>
            <a:r>
              <a:rPr lang="fr-FR" altLang="fr-FR" dirty="0"/>
              <a:t> </a:t>
            </a:r>
            <a:r>
              <a:rPr lang="fr-FR" altLang="fr-FR" dirty="0" err="1"/>
              <a:t>through</a:t>
            </a:r>
            <a:r>
              <a:rPr lang="fr-FR" altLang="fr-FR" dirty="0"/>
              <a:t> </a:t>
            </a:r>
            <a:r>
              <a:rPr lang="fr-FR" altLang="fr-FR" dirty="0" err="1"/>
              <a:t>literature</a:t>
            </a:r>
            <a:r>
              <a:rPr lang="fr-FR" altLang="fr-FR" dirty="0"/>
              <a:t>, simulations, and thermal </a:t>
            </a:r>
            <a:r>
              <a:rPr lang="fr-FR" altLang="fr-FR" dirty="0" err="1"/>
              <a:t>modeling</a:t>
            </a:r>
            <a:r>
              <a:rPr lang="fr-FR" altLang="fr-FR" dirty="0"/>
              <a:t> </a:t>
            </a:r>
            <a:r>
              <a:rPr lang="fr-FR" altLang="fr-FR" dirty="0" err="1"/>
              <a:t>approaches</a:t>
            </a:r>
            <a:r>
              <a:rPr lang="fr-FR" altLang="fr-FR" dirty="0"/>
              <a:t>.</a:t>
            </a:r>
          </a:p>
          <a:p>
            <a:pPr marL="0" lvl="0" indent="0">
              <a:buNone/>
            </a:pPr>
            <a:r>
              <a:rPr lang="fr-FR" altLang="fr-FR" b="1" dirty="0" err="1"/>
              <a:t>Solved</a:t>
            </a:r>
            <a:r>
              <a:rPr lang="fr-FR" altLang="fr-FR" dirty="0"/>
              <a:t> </a:t>
            </a:r>
            <a:r>
              <a:rPr lang="fr-FR" altLang="fr-FR" dirty="0" err="1"/>
              <a:t>effectively</a:t>
            </a:r>
            <a:r>
              <a:rPr lang="fr-FR" altLang="fr-FR" dirty="0"/>
              <a:t> by </a:t>
            </a:r>
            <a:r>
              <a:rPr lang="fr-FR" altLang="fr-FR" dirty="0" err="1"/>
              <a:t>integrating</a:t>
            </a:r>
            <a:r>
              <a:rPr lang="fr-FR" altLang="fr-FR" dirty="0"/>
              <a:t> </a:t>
            </a:r>
            <a:r>
              <a:rPr lang="fr-FR" altLang="fr-FR" dirty="0" err="1"/>
              <a:t>voxel-based</a:t>
            </a:r>
            <a:r>
              <a:rPr lang="fr-FR" altLang="fr-FR" dirty="0"/>
              <a:t> </a:t>
            </a:r>
            <a:r>
              <a:rPr lang="fr-FR" altLang="fr-FR" dirty="0" err="1"/>
              <a:t>heat</a:t>
            </a:r>
            <a:r>
              <a:rPr lang="fr-FR" altLang="fr-FR" dirty="0"/>
              <a:t> simulation </a:t>
            </a:r>
            <a:r>
              <a:rPr lang="fr-FR" altLang="fr-FR" dirty="0" err="1"/>
              <a:t>with</a:t>
            </a:r>
            <a:r>
              <a:rPr lang="fr-FR" altLang="fr-FR" dirty="0"/>
              <a:t> </a:t>
            </a:r>
            <a:r>
              <a:rPr lang="fr-FR" altLang="fr-FR" dirty="0" err="1"/>
              <a:t>Q-learning</a:t>
            </a:r>
            <a:r>
              <a:rPr lang="fr-FR" altLang="fr-FR" dirty="0"/>
              <a:t>, </a:t>
            </a:r>
            <a:r>
              <a:rPr lang="fr-FR" altLang="fr-FR" dirty="0" err="1"/>
              <a:t>resulting</a:t>
            </a:r>
            <a:r>
              <a:rPr lang="fr-FR" altLang="fr-FR" dirty="0"/>
              <a:t> in </a:t>
            </a:r>
            <a:r>
              <a:rPr lang="fr-FR" altLang="fr-FR" dirty="0" err="1"/>
              <a:t>significant</a:t>
            </a:r>
            <a:r>
              <a:rPr lang="fr-FR" altLang="fr-FR" dirty="0"/>
              <a:t> performance </a:t>
            </a:r>
            <a:r>
              <a:rPr lang="fr-FR" altLang="fr-FR" dirty="0" err="1"/>
              <a:t>improvements</a:t>
            </a:r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5F6B68B-E64C-4D38-A8BC-63EB83F7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8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3654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498" y="540758"/>
            <a:ext cx="6047331" cy="3248281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C7B490F2-56C5-47B1-9DE5-FDECCCE0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1F5A3A0-CE93-4013-A5F0-BB554CFCB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7" y="1102771"/>
            <a:ext cx="6009585" cy="5618706"/>
          </a:xfrm>
        </p:spPr>
        <p:txBody>
          <a:bodyPr/>
          <a:lstStyle/>
          <a:p>
            <a:r>
              <a:rPr lang="en-GB" dirty="0" smtClean="0"/>
              <a:t>ABB Robot Studio for the WAAM simulation</a:t>
            </a:r>
          </a:p>
          <a:p>
            <a:r>
              <a:rPr lang="en-GB" dirty="0" smtClean="0"/>
              <a:t>Data collection from the TCP</a:t>
            </a:r>
          </a:p>
          <a:p>
            <a:pPr marL="0" indent="0">
              <a:buNone/>
            </a:pPr>
            <a:r>
              <a:rPr lang="en-GB" dirty="0" smtClean="0"/>
              <a:t>Reasons : </a:t>
            </a:r>
          </a:p>
          <a:p>
            <a:r>
              <a:rPr lang="en-GB" dirty="0" smtClean="0"/>
              <a:t>Real robot is an ABB arm</a:t>
            </a:r>
          </a:p>
          <a:p>
            <a:r>
              <a:rPr lang="en-GB" dirty="0" smtClean="0"/>
              <a:t>Simulation allows: trials, flexibility, </a:t>
            </a:r>
            <a:r>
              <a:rPr lang="fr-FR" dirty="0" err="1"/>
              <a:t>efficiency</a:t>
            </a:r>
            <a:r>
              <a:rPr lang="en-GB" dirty="0" smtClean="0"/>
              <a:t> and precision</a:t>
            </a:r>
          </a:p>
          <a:p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5F6B68B-E64C-4D38-A8BC-63EB83F7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9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798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Voxel –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8042" y="2204864"/>
            <a:ext cx="2736304" cy="3135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C7B490F2-56C5-47B1-9DE5-FDECCCE0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1F5A3A0-CE93-4013-A5F0-BB554CFCB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908" y="928203"/>
            <a:ext cx="10624651" cy="5181600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Voxel-based geometry pipeline for accurate geometry representation</a:t>
            </a:r>
          </a:p>
          <a:p>
            <a:r>
              <a:rPr lang="fr-FR" b="1" dirty="0"/>
              <a:t>Regular </a:t>
            </a:r>
            <a:r>
              <a:rPr lang="fr-FR" b="1" dirty="0" err="1"/>
              <a:t>grid</a:t>
            </a:r>
            <a:r>
              <a:rPr lang="fr-FR" b="1" dirty="0"/>
              <a:t> </a:t>
            </a:r>
            <a:r>
              <a:rPr lang="fr-FR" b="1" dirty="0" smtClean="0"/>
              <a:t>structure</a:t>
            </a:r>
            <a:r>
              <a:rPr lang="fr-FR" dirty="0" smtClean="0"/>
              <a:t>: </a:t>
            </a:r>
            <a:r>
              <a:rPr lang="en-GB" dirty="0" smtClean="0"/>
              <a:t>simplify calculation and algorithms, layer’s height are fixed</a:t>
            </a:r>
          </a:p>
          <a:p>
            <a:pPr lvl="0"/>
            <a:r>
              <a:rPr lang="fr-FR" altLang="fr-FR" b="1" dirty="0" err="1" smtClean="0"/>
              <a:t>Easy</a:t>
            </a:r>
            <a:r>
              <a:rPr lang="fr-FR" altLang="fr-FR" b="1" dirty="0" smtClean="0"/>
              <a:t> </a:t>
            </a:r>
            <a:r>
              <a:rPr lang="fr-FR" altLang="fr-FR" b="1" dirty="0" err="1"/>
              <a:t>indexing</a:t>
            </a:r>
            <a:r>
              <a:rPr lang="fr-FR" altLang="fr-FR" dirty="0"/>
              <a:t>: </a:t>
            </a:r>
            <a:r>
              <a:rPr lang="fr-FR" altLang="fr-FR" dirty="0" err="1"/>
              <a:t>facilitates</a:t>
            </a:r>
            <a:r>
              <a:rPr lang="fr-FR" altLang="fr-FR" dirty="0"/>
              <a:t> efficient memory management and </a:t>
            </a:r>
            <a:r>
              <a:rPr lang="fr-FR" altLang="fr-FR" dirty="0" err="1"/>
              <a:t>computational</a:t>
            </a:r>
            <a:r>
              <a:rPr lang="fr-FR" altLang="fr-FR" dirty="0"/>
              <a:t> handling</a:t>
            </a:r>
            <a:r>
              <a:rPr lang="fr-FR" altLang="fr-FR" dirty="0">
                <a:latin typeface="Arial" panose="020B0604020202020204" pitchFamily="34" charset="0"/>
              </a:rPr>
              <a:t>.</a:t>
            </a:r>
          </a:p>
          <a:p>
            <a:r>
              <a:rPr lang="fr-FR" b="1" dirty="0" err="1"/>
              <a:t>Adjustable</a:t>
            </a:r>
            <a:r>
              <a:rPr lang="fr-FR" b="1" dirty="0"/>
              <a:t> </a:t>
            </a:r>
            <a:r>
              <a:rPr lang="fr-FR" b="1" dirty="0" err="1" smtClean="0"/>
              <a:t>resolution</a:t>
            </a:r>
            <a:endParaRPr lang="fr-FR" b="1" dirty="0" smtClean="0"/>
          </a:p>
          <a:p>
            <a:r>
              <a:rPr lang="fr-FR" b="1" dirty="0"/>
              <a:t>Supports </a:t>
            </a:r>
            <a:r>
              <a:rPr lang="fr-FR" b="1" dirty="0" err="1"/>
              <a:t>complex</a:t>
            </a:r>
            <a:r>
              <a:rPr lang="fr-FR" b="1" dirty="0"/>
              <a:t> </a:t>
            </a:r>
            <a:r>
              <a:rPr lang="fr-FR" b="1" dirty="0" err="1" smtClean="0"/>
              <a:t>geometries</a:t>
            </a:r>
            <a:endParaRPr lang="fr-FR" b="1" dirty="0" smtClean="0"/>
          </a:p>
          <a:p>
            <a:r>
              <a:rPr lang="fr-FR" b="1" dirty="0"/>
              <a:t>Direct </a:t>
            </a:r>
            <a:r>
              <a:rPr lang="fr-FR" b="1" dirty="0" smtClean="0"/>
              <a:t>compatibility </a:t>
            </a:r>
            <a:r>
              <a:rPr lang="fr-FR" dirty="0" err="1" smtClean="0"/>
              <a:t>with</a:t>
            </a:r>
            <a:r>
              <a:rPr lang="fr-FR" dirty="0" smtClean="0"/>
              <a:t> thermal </a:t>
            </a:r>
            <a:r>
              <a:rPr lang="fr-FR" dirty="0" err="1" smtClean="0"/>
              <a:t>models</a:t>
            </a:r>
            <a:r>
              <a:rPr lang="fr-FR" dirty="0" smtClean="0"/>
              <a:t> and </a:t>
            </a:r>
            <a:r>
              <a:rPr lang="fr-FR" dirty="0" err="1" smtClean="0"/>
              <a:t>Accurate</a:t>
            </a:r>
            <a:r>
              <a:rPr lang="fr-FR" dirty="0" smtClean="0"/>
              <a:t> </a:t>
            </a:r>
            <a:r>
              <a:rPr lang="fr-FR" dirty="0" err="1"/>
              <a:t>heat</a:t>
            </a:r>
            <a:r>
              <a:rPr lang="fr-FR" dirty="0"/>
              <a:t> </a:t>
            </a:r>
            <a:r>
              <a:rPr lang="fr-FR" dirty="0" err="1"/>
              <a:t>maps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5F6B68B-E64C-4D38-A8BC-63EB83F7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10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038971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280" y="202798"/>
            <a:ext cx="3370591" cy="3073035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C7B490F2-56C5-47B1-9DE5-FDECCCE0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1F5A3A0-CE93-4013-A5F0-BB554CFCB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909" y="937149"/>
            <a:ext cx="8104371" cy="5181600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Heat Simulation model using a given Heat equation</a:t>
            </a:r>
          </a:p>
          <a:p>
            <a:r>
              <a:rPr lang="fr-FR" b="1" dirty="0" err="1"/>
              <a:t>Computational</a:t>
            </a:r>
            <a:r>
              <a:rPr lang="fr-FR" b="1" dirty="0"/>
              <a:t> </a:t>
            </a:r>
            <a:r>
              <a:rPr lang="fr-FR" b="1" dirty="0" err="1" smtClean="0"/>
              <a:t>simplicity</a:t>
            </a:r>
            <a:endParaRPr lang="fr-FR" b="1" dirty="0" smtClean="0"/>
          </a:p>
          <a:p>
            <a:r>
              <a:rPr lang="en-US" b="1" dirty="0" smtClean="0"/>
              <a:t>Reduced </a:t>
            </a:r>
            <a:r>
              <a:rPr lang="en-US" b="1" dirty="0"/>
              <a:t>complexity:</a:t>
            </a:r>
            <a:r>
              <a:rPr lang="en-US" dirty="0"/>
              <a:t> captures key heat transfer phenomena (conduction, convection, radiation) effectively without overly complex modeling</a:t>
            </a:r>
            <a:r>
              <a:rPr lang="en-US" dirty="0" smtClean="0"/>
              <a:t>.</a:t>
            </a:r>
          </a:p>
          <a:p>
            <a:r>
              <a:rPr lang="fr-FR" b="1" dirty="0" err="1" smtClean="0"/>
              <a:t>Adaptability</a:t>
            </a:r>
            <a:r>
              <a:rPr lang="fr-FR" b="1" dirty="0" smtClean="0"/>
              <a:t>: </a:t>
            </a:r>
            <a:r>
              <a:rPr lang="en-US" dirty="0"/>
              <a:t>easily accommodates varying geometric </a:t>
            </a:r>
            <a:r>
              <a:rPr lang="en-US" dirty="0" smtClean="0"/>
              <a:t>complexity and </a:t>
            </a:r>
            <a:r>
              <a:rPr lang="en-US" dirty="0"/>
              <a:t>cooling </a:t>
            </a:r>
            <a:r>
              <a:rPr lang="en-US" dirty="0" smtClean="0"/>
              <a:t>conditions</a:t>
            </a:r>
          </a:p>
          <a:p>
            <a:r>
              <a:rPr lang="en-US" b="1" dirty="0"/>
              <a:t>Compatibility:</a:t>
            </a:r>
            <a:r>
              <a:rPr lang="en-US" dirty="0"/>
              <a:t> aligns naturally with voxel </a:t>
            </a:r>
            <a:r>
              <a:rPr lang="en-US" dirty="0" smtClean="0"/>
              <a:t>representation</a:t>
            </a:r>
            <a:endParaRPr lang="en-GB" b="1" dirty="0" smtClean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5F6B68B-E64C-4D38-A8BC-63EB83F7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11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2724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Q-learning - A Quick Introduction (with Code) | Dilith Jayakod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840" y="4483019"/>
            <a:ext cx="5803404" cy="2238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C7B490F2-56C5-47B1-9DE5-FDECCCE0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1F5A3A0-CE93-4013-A5F0-BB554CFCB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909" y="937149"/>
            <a:ext cx="8896459" cy="51816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Integration of RL model (Q-Learning) for path optimization</a:t>
            </a:r>
          </a:p>
          <a:p>
            <a:r>
              <a:rPr lang="en-US" b="1" dirty="0"/>
              <a:t>Adaptability:</a:t>
            </a:r>
            <a:r>
              <a:rPr lang="en-US" dirty="0"/>
              <a:t> Ability to learn effectively from real-time thermal </a:t>
            </a:r>
            <a:r>
              <a:rPr lang="en-US" dirty="0" smtClean="0"/>
              <a:t>feedback</a:t>
            </a:r>
          </a:p>
          <a:p>
            <a:r>
              <a:rPr lang="en-US" b="1" dirty="0" smtClean="0"/>
              <a:t>Real-time </a:t>
            </a:r>
            <a:r>
              <a:rPr lang="en-US" b="1" dirty="0"/>
              <a:t>applicability:</a:t>
            </a:r>
            <a:r>
              <a:rPr lang="en-US" dirty="0"/>
              <a:t> Decisions made instantly based on changing </a:t>
            </a:r>
            <a:r>
              <a:rPr lang="en-US" dirty="0" smtClean="0"/>
              <a:t>states</a:t>
            </a:r>
            <a:endParaRPr lang="fr-FR" dirty="0"/>
          </a:p>
          <a:p>
            <a:r>
              <a:rPr lang="en-US" b="1" dirty="0"/>
              <a:t>Computational Simplicity:</a:t>
            </a:r>
            <a:r>
              <a:rPr lang="en-US" dirty="0"/>
              <a:t> Quick iterations with minimal </a:t>
            </a:r>
            <a:r>
              <a:rPr lang="en-US" dirty="0" smtClean="0"/>
              <a:t>computation.</a:t>
            </a:r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5F6B68B-E64C-4D38-A8BC-63EB83F7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12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75171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52C15D4-7938-4585-B82A-0EB6C362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955EC5E-9B51-4B9E-94FD-AE29D4C0B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914123"/>
            <a:ext cx="10156092" cy="5181600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1. </a:t>
            </a:r>
            <a:r>
              <a:rPr lang="fr-FR" b="1" dirty="0" err="1"/>
              <a:t>Problem</a:t>
            </a:r>
            <a:r>
              <a:rPr lang="fr-FR" b="1" dirty="0"/>
              <a:t> </a:t>
            </a:r>
            <a:r>
              <a:rPr lang="fr-FR" b="1" dirty="0" err="1"/>
              <a:t>Definition</a:t>
            </a:r>
            <a:r>
              <a:rPr lang="fr-FR" b="1" dirty="0"/>
              <a:t> and Planning</a:t>
            </a:r>
            <a:endParaRPr lang="fr-FR" dirty="0"/>
          </a:p>
          <a:p>
            <a:r>
              <a:rPr lang="fr-FR" b="1" dirty="0" err="1"/>
              <a:t>Clearly</a:t>
            </a:r>
            <a:r>
              <a:rPr lang="fr-FR" b="1" dirty="0"/>
              <a:t> </a:t>
            </a:r>
            <a:r>
              <a:rPr lang="fr-FR" b="1" dirty="0" err="1"/>
              <a:t>defined</a:t>
            </a:r>
            <a:r>
              <a:rPr lang="fr-FR" b="1" dirty="0"/>
              <a:t> goals:</a:t>
            </a:r>
            <a:endParaRPr lang="fr-FR" dirty="0"/>
          </a:p>
          <a:p>
            <a:pPr lvl="1"/>
            <a:r>
              <a:rPr lang="fr-FR" dirty="0" err="1"/>
              <a:t>Develop</a:t>
            </a:r>
            <a:r>
              <a:rPr lang="fr-FR" dirty="0"/>
              <a:t> </a:t>
            </a:r>
            <a:r>
              <a:rPr lang="fr-FR" dirty="0" err="1"/>
              <a:t>accurate</a:t>
            </a:r>
            <a:r>
              <a:rPr lang="fr-FR" dirty="0"/>
              <a:t> simulations for thermal </a:t>
            </a:r>
            <a:r>
              <a:rPr lang="fr-FR" dirty="0" err="1"/>
              <a:t>dynamics</a:t>
            </a:r>
            <a:r>
              <a:rPr lang="fr-FR" dirty="0"/>
              <a:t>.</a:t>
            </a:r>
          </a:p>
          <a:p>
            <a:pPr lvl="1"/>
            <a:r>
              <a:rPr lang="fr-FR" dirty="0" err="1"/>
              <a:t>Optimize</a:t>
            </a:r>
            <a:r>
              <a:rPr lang="fr-FR" dirty="0"/>
              <a:t> printing </a:t>
            </a:r>
            <a:r>
              <a:rPr lang="fr-FR" dirty="0" err="1"/>
              <a:t>sequences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AI (</a:t>
            </a:r>
            <a:r>
              <a:rPr lang="fr-FR" dirty="0" err="1"/>
              <a:t>Reinforcement</a:t>
            </a:r>
            <a:r>
              <a:rPr lang="fr-FR" dirty="0"/>
              <a:t> Learning).</a:t>
            </a:r>
          </a:p>
          <a:p>
            <a:r>
              <a:rPr lang="fr-FR" b="1" dirty="0"/>
              <a:t>Planning the workflow:</a:t>
            </a:r>
            <a:endParaRPr lang="fr-FR" dirty="0"/>
          </a:p>
          <a:p>
            <a:pPr lvl="1"/>
            <a:r>
              <a:rPr lang="fr-FR" dirty="0" err="1"/>
              <a:t>Identified</a:t>
            </a:r>
            <a:r>
              <a:rPr lang="fr-FR" dirty="0"/>
              <a:t> the software and </a:t>
            </a:r>
            <a:r>
              <a:rPr lang="fr-FR" dirty="0" err="1"/>
              <a:t>resources</a:t>
            </a:r>
            <a:r>
              <a:rPr lang="fr-FR" dirty="0"/>
              <a:t> </a:t>
            </a:r>
            <a:r>
              <a:rPr lang="fr-FR" dirty="0" err="1"/>
              <a:t>needed</a:t>
            </a:r>
            <a:r>
              <a:rPr lang="fr-FR" dirty="0"/>
              <a:t> (ABB </a:t>
            </a:r>
            <a:r>
              <a:rPr lang="fr-FR" dirty="0" err="1"/>
              <a:t>RobotStudio</a:t>
            </a:r>
            <a:r>
              <a:rPr lang="fr-FR" dirty="0"/>
              <a:t>, </a:t>
            </a:r>
            <a:r>
              <a:rPr lang="fr-FR" dirty="0" smtClean="0"/>
              <a:t>Python).</a:t>
            </a:r>
            <a:endParaRPr lang="fr-FR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B66966A-220A-4591-AF8D-3EF1F537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13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08307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52C15D4-7938-4585-B82A-0EB6C362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955EC5E-9B51-4B9E-94FD-AE29D4C0B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914123"/>
            <a:ext cx="10156092" cy="5181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Data Acquisition and Virtual Simulation</a:t>
            </a:r>
            <a:endParaRPr lang="en-US" dirty="0"/>
          </a:p>
          <a:p>
            <a:r>
              <a:rPr lang="en-US" b="1" dirty="0"/>
              <a:t>Simulated the WAAM process virtually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Created a virtual environment in ABB </a:t>
            </a:r>
            <a:r>
              <a:rPr lang="en-US" dirty="0" err="1"/>
              <a:t>RobotStudio</a:t>
            </a:r>
            <a:r>
              <a:rPr lang="en-US" dirty="0"/>
              <a:t> to mimic real machine parameters (speed, paths, printing layers).</a:t>
            </a:r>
          </a:p>
          <a:p>
            <a:r>
              <a:rPr lang="en-US" b="1" dirty="0"/>
              <a:t>Collected TCP (Tool Center Point) coordinates:</a:t>
            </a:r>
            <a:endParaRPr lang="en-US" dirty="0"/>
          </a:p>
          <a:p>
            <a:pPr lvl="1"/>
            <a:r>
              <a:rPr lang="en-US" dirty="0"/>
              <a:t>Gathered high-frequency data during simulated prints</a:t>
            </a:r>
            <a:r>
              <a:rPr lang="en-US" dirty="0" smtClean="0"/>
              <a:t>. (20 pts/sec)</a:t>
            </a:r>
            <a:endParaRPr lang="en-US" dirty="0"/>
          </a:p>
          <a:p>
            <a:pPr lvl="1"/>
            <a:r>
              <a:rPr lang="en-US" dirty="0"/>
              <a:t>Ensured accuracy by filtering and removing outliers.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B66966A-220A-4591-AF8D-3EF1F537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14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8051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52C15D4-7938-4585-B82A-0EB6C362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B66966A-220A-4591-AF8D-3EF1F537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15</a:t>
            </a:fld>
            <a:endParaRPr lang="sv-SE" dirty="0"/>
          </a:p>
        </p:txBody>
      </p:sp>
      <p:pic>
        <p:nvPicPr>
          <p:cNvPr id="6" name="Design sans titre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9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280" y="0"/>
            <a:ext cx="3374316" cy="3835065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E52C15D4-7938-4585-B82A-0EB6C362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955EC5E-9B51-4B9E-94FD-AE29D4C0B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914123"/>
            <a:ext cx="8064896" cy="5181600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3. </a:t>
            </a:r>
            <a:r>
              <a:rPr lang="fr-FR" b="1" dirty="0" err="1"/>
              <a:t>Geometric</a:t>
            </a:r>
            <a:r>
              <a:rPr lang="fr-FR" b="1" dirty="0"/>
              <a:t> </a:t>
            </a:r>
            <a:r>
              <a:rPr lang="fr-FR" b="1" dirty="0" err="1"/>
              <a:t>Representation</a:t>
            </a:r>
            <a:r>
              <a:rPr lang="fr-FR" b="1" dirty="0"/>
              <a:t> (</a:t>
            </a:r>
            <a:r>
              <a:rPr lang="fr-FR" b="1" dirty="0" err="1"/>
              <a:t>Voxel</a:t>
            </a:r>
            <a:r>
              <a:rPr lang="fr-FR" b="1" dirty="0"/>
              <a:t> Method)</a:t>
            </a:r>
            <a:endParaRPr lang="fr-FR" dirty="0"/>
          </a:p>
          <a:p>
            <a:r>
              <a:rPr lang="fr-FR" b="1" dirty="0" err="1"/>
              <a:t>Converted</a:t>
            </a:r>
            <a:r>
              <a:rPr lang="fr-FR" b="1" dirty="0"/>
              <a:t> </a:t>
            </a:r>
            <a:r>
              <a:rPr lang="fr-FR" b="1" dirty="0" err="1"/>
              <a:t>raw</a:t>
            </a:r>
            <a:r>
              <a:rPr lang="fr-FR" b="1" dirty="0"/>
              <a:t> data </a:t>
            </a:r>
            <a:r>
              <a:rPr lang="fr-FR" b="1" dirty="0" err="1"/>
              <a:t>into</a:t>
            </a:r>
            <a:r>
              <a:rPr lang="fr-FR" b="1" dirty="0"/>
              <a:t> </a:t>
            </a:r>
            <a:r>
              <a:rPr lang="fr-FR" b="1" dirty="0" err="1"/>
              <a:t>voxel</a:t>
            </a:r>
            <a:r>
              <a:rPr lang="fr-FR" b="1" dirty="0"/>
              <a:t> </a:t>
            </a:r>
            <a:r>
              <a:rPr lang="fr-FR" b="1" dirty="0" err="1"/>
              <a:t>models</a:t>
            </a:r>
            <a:r>
              <a:rPr lang="fr-FR" b="1" dirty="0" smtClean="0"/>
              <a:t>:</a:t>
            </a:r>
          </a:p>
          <a:p>
            <a:pPr lvl="1"/>
            <a:r>
              <a:rPr lang="fr-FR" dirty="0" smtClean="0"/>
              <a:t>400*400 </a:t>
            </a:r>
            <a:r>
              <a:rPr lang="fr-FR" dirty="0" err="1" smtClean="0"/>
              <a:t>resolution</a:t>
            </a:r>
            <a:endParaRPr lang="fr-FR" dirty="0"/>
          </a:p>
          <a:p>
            <a:pPr lvl="1"/>
            <a:r>
              <a:rPr lang="fr-FR" dirty="0" err="1"/>
              <a:t>Mapped</a:t>
            </a:r>
            <a:r>
              <a:rPr lang="fr-FR" dirty="0"/>
              <a:t> </a:t>
            </a:r>
            <a:r>
              <a:rPr lang="fr-FR" dirty="0" err="1"/>
              <a:t>raw</a:t>
            </a:r>
            <a:r>
              <a:rPr lang="fr-FR" dirty="0"/>
              <a:t> TCP </a:t>
            </a:r>
            <a:r>
              <a:rPr lang="fr-FR" dirty="0" err="1"/>
              <a:t>coordinates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voxel</a:t>
            </a:r>
            <a:r>
              <a:rPr lang="fr-FR" dirty="0"/>
              <a:t> indices.</a:t>
            </a:r>
          </a:p>
          <a:p>
            <a:pPr lvl="1"/>
            <a:r>
              <a:rPr lang="fr-FR" dirty="0" err="1"/>
              <a:t>Filled</a:t>
            </a:r>
            <a:r>
              <a:rPr lang="fr-FR" dirty="0"/>
              <a:t> gaps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voxels</a:t>
            </a:r>
            <a:r>
              <a:rPr lang="fr-FR" dirty="0"/>
              <a:t> to </a:t>
            </a:r>
            <a:r>
              <a:rPr lang="fr-FR" dirty="0" err="1"/>
              <a:t>ensure</a:t>
            </a:r>
            <a:r>
              <a:rPr lang="fr-FR" dirty="0"/>
              <a:t> </a:t>
            </a:r>
            <a:r>
              <a:rPr lang="fr-FR" dirty="0" err="1"/>
              <a:t>accurate</a:t>
            </a:r>
            <a:r>
              <a:rPr lang="fr-FR" dirty="0"/>
              <a:t> </a:t>
            </a:r>
            <a:r>
              <a:rPr lang="fr-FR" dirty="0" err="1"/>
              <a:t>geometry</a:t>
            </a:r>
            <a:r>
              <a:rPr lang="fr-FR" dirty="0"/>
              <a:t> </a:t>
            </a:r>
            <a:r>
              <a:rPr lang="fr-FR" dirty="0" err="1" smtClean="0"/>
              <a:t>representation</a:t>
            </a:r>
            <a:r>
              <a:rPr lang="fr-FR" dirty="0" smtClean="0"/>
              <a:t> (by </a:t>
            </a:r>
            <a:r>
              <a:rPr lang="fr-FR" dirty="0" err="1" smtClean="0"/>
              <a:t>doing</a:t>
            </a:r>
            <a:r>
              <a:rPr lang="fr-FR" dirty="0" smtClean="0"/>
              <a:t> a dilation).</a:t>
            </a:r>
            <a:endParaRPr lang="fr-FR" dirty="0"/>
          </a:p>
          <a:p>
            <a:r>
              <a:rPr lang="fr-FR" b="1" dirty="0" err="1"/>
              <a:t>Implemented</a:t>
            </a:r>
            <a:r>
              <a:rPr lang="fr-FR" b="1" dirty="0"/>
              <a:t> </a:t>
            </a:r>
            <a:r>
              <a:rPr lang="fr-FR" b="1" dirty="0" err="1"/>
              <a:t>voxel</a:t>
            </a:r>
            <a:r>
              <a:rPr lang="fr-FR" b="1" dirty="0"/>
              <a:t> </a:t>
            </a:r>
            <a:r>
              <a:rPr lang="fr-FR" b="1" dirty="0" err="1"/>
              <a:t>methods</a:t>
            </a:r>
            <a:r>
              <a:rPr lang="fr-FR" b="1" dirty="0"/>
              <a:t>:</a:t>
            </a:r>
            <a:endParaRPr lang="fr-FR" dirty="0"/>
          </a:p>
          <a:p>
            <a:pPr lvl="1"/>
            <a:r>
              <a:rPr lang="fr-FR" dirty="0" err="1"/>
              <a:t>Chosen</a:t>
            </a:r>
            <a:r>
              <a:rPr lang="fr-FR" dirty="0"/>
              <a:t> due to </a:t>
            </a:r>
            <a:r>
              <a:rPr lang="fr-FR" dirty="0" err="1"/>
              <a:t>computational</a:t>
            </a:r>
            <a:r>
              <a:rPr lang="fr-FR" dirty="0"/>
              <a:t> </a:t>
            </a:r>
            <a:r>
              <a:rPr lang="fr-FR" dirty="0" err="1"/>
              <a:t>efficiency</a:t>
            </a:r>
            <a:r>
              <a:rPr lang="fr-FR" dirty="0"/>
              <a:t> and </a:t>
            </a:r>
            <a:r>
              <a:rPr lang="fr-FR" dirty="0" err="1"/>
              <a:t>easy</a:t>
            </a:r>
            <a:r>
              <a:rPr lang="fr-FR" dirty="0"/>
              <a:t> </a:t>
            </a:r>
            <a:r>
              <a:rPr lang="fr-FR" dirty="0" err="1"/>
              <a:t>integration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thermal </a:t>
            </a:r>
            <a:r>
              <a:rPr lang="fr-FR" dirty="0" err="1"/>
              <a:t>modeling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B66966A-220A-4591-AF8D-3EF1F537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16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054622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52C15D4-7938-4585-B82A-0EB6C362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955EC5E-9B51-4B9E-94FD-AE29D4C0B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370" y="1033236"/>
            <a:ext cx="6514540" cy="549210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4. Thermal Simulation</a:t>
            </a:r>
            <a:endParaRPr lang="en-US" dirty="0"/>
          </a:p>
          <a:p>
            <a:r>
              <a:rPr lang="en-US" b="1" dirty="0"/>
              <a:t>Created a custom thermal model:</a:t>
            </a:r>
            <a:endParaRPr lang="en-US" dirty="0"/>
          </a:p>
          <a:p>
            <a:pPr lvl="1"/>
            <a:r>
              <a:rPr lang="en-US" dirty="0"/>
              <a:t>Developed a simplified lumped-parameter thermal equation for each </a:t>
            </a:r>
            <a:r>
              <a:rPr lang="en-US" dirty="0" smtClean="0"/>
              <a:t>piece, by taking into parameters the pieces geometry and there cooling times.</a:t>
            </a:r>
            <a:endParaRPr lang="en-US" dirty="0"/>
          </a:p>
          <a:p>
            <a:pPr lvl="1"/>
            <a:r>
              <a:rPr lang="en-US" dirty="0"/>
              <a:t>Calibrated empirical parameters (α, β, γ) through multiple iterations to reflect realistic thermal dynamics.</a:t>
            </a:r>
          </a:p>
          <a:p>
            <a:r>
              <a:rPr lang="en-US" b="1" dirty="0"/>
              <a:t>Validated thermal models:</a:t>
            </a:r>
            <a:endParaRPr lang="en-US" dirty="0"/>
          </a:p>
          <a:p>
            <a:pPr lvl="1"/>
            <a:r>
              <a:rPr lang="en-US" dirty="0"/>
              <a:t>Ensured accuracy by comparing results from different </a:t>
            </a:r>
            <a:r>
              <a:rPr lang="en-US" dirty="0" smtClean="0"/>
              <a:t>scenarios and real data.</a:t>
            </a:r>
            <a:endParaRPr lang="en-US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B66966A-220A-4591-AF8D-3EF1F537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17</a:t>
            </a:fld>
            <a:endParaRPr lang="sv-SE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6319" y="188916"/>
            <a:ext cx="4248196" cy="424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329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52C15D4-7938-4585-B82A-0EB6C362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955EC5E-9B51-4B9E-94FD-AE29D4C0B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b="1" dirty="0" err="1" smtClean="0"/>
              <a:t>dT</a:t>
            </a:r>
            <a:r>
              <a:rPr lang="fr-FR" b="1" dirty="0" smtClean="0"/>
              <a:t>/</a:t>
            </a:r>
            <a:r>
              <a:rPr lang="fr-FR" b="1" dirty="0" err="1" smtClean="0"/>
              <a:t>dt</a:t>
            </a:r>
            <a:r>
              <a:rPr lang="fr-FR" b="1" dirty="0"/>
              <a:t>​=</a:t>
            </a:r>
            <a:r>
              <a:rPr lang="el-GR" b="1" dirty="0"/>
              <a:t>α</a:t>
            </a:r>
            <a:r>
              <a:rPr lang="fr-FR" b="1" dirty="0"/>
              <a:t>Q−</a:t>
            </a:r>
            <a:r>
              <a:rPr lang="el-GR" b="1" dirty="0"/>
              <a:t>β(</a:t>
            </a:r>
            <a:r>
              <a:rPr lang="fr-FR" b="1" dirty="0"/>
              <a:t>T−</a:t>
            </a:r>
            <a:r>
              <a:rPr lang="fr-FR" b="1" dirty="0" err="1"/>
              <a:t>Tamb</a:t>
            </a:r>
            <a:r>
              <a:rPr lang="fr-FR" b="1" dirty="0"/>
              <a:t>​)−</a:t>
            </a:r>
            <a:r>
              <a:rPr lang="el-GR" b="1" dirty="0"/>
              <a:t>γ(</a:t>
            </a:r>
            <a:r>
              <a:rPr lang="fr-FR" b="1" dirty="0"/>
              <a:t>T^4−Tamb^4​)</a:t>
            </a:r>
          </a:p>
          <a:p>
            <a:pPr marL="0" indent="0">
              <a:buNone/>
            </a:pPr>
            <a:r>
              <a:rPr lang="fr-FR" dirty="0" err="1"/>
              <a:t>Where</a:t>
            </a:r>
            <a:r>
              <a:rPr lang="fr-FR" dirty="0"/>
              <a:t>:</a:t>
            </a:r>
          </a:p>
          <a:p>
            <a:r>
              <a:rPr lang="fr-FR" b="1" dirty="0" smtClean="0"/>
              <a:t>T</a:t>
            </a:r>
            <a:r>
              <a:rPr lang="fr-FR" dirty="0" smtClean="0"/>
              <a:t>: </a:t>
            </a:r>
            <a:r>
              <a:rPr lang="fr-FR" dirty="0" err="1"/>
              <a:t>Temperature</a:t>
            </a:r>
            <a:r>
              <a:rPr lang="fr-FR" dirty="0"/>
              <a:t> of </a:t>
            </a:r>
            <a:r>
              <a:rPr lang="fr-FR" dirty="0" err="1"/>
              <a:t>voxel</a:t>
            </a:r>
            <a:endParaRPr lang="fr-FR" dirty="0"/>
          </a:p>
          <a:p>
            <a:r>
              <a:rPr lang="fr-FR" b="1" dirty="0" smtClean="0"/>
              <a:t>Q</a:t>
            </a:r>
            <a:r>
              <a:rPr lang="fr-FR" dirty="0" smtClean="0"/>
              <a:t>: </a:t>
            </a:r>
            <a:r>
              <a:rPr lang="fr-FR" dirty="0" err="1"/>
              <a:t>Heat</a:t>
            </a:r>
            <a:r>
              <a:rPr lang="fr-FR" dirty="0"/>
              <a:t> input (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welding</a:t>
            </a:r>
            <a:r>
              <a:rPr lang="fr-FR" dirty="0"/>
              <a:t> arc)</a:t>
            </a:r>
          </a:p>
          <a:p>
            <a:r>
              <a:rPr lang="el-GR" b="1" dirty="0" smtClean="0"/>
              <a:t>α,β,γ</a:t>
            </a:r>
            <a:r>
              <a:rPr lang="el-GR" dirty="0" smtClean="0"/>
              <a:t>: </a:t>
            </a:r>
            <a:r>
              <a:rPr lang="fr-FR" dirty="0" err="1"/>
              <a:t>Empirically</a:t>
            </a:r>
            <a:r>
              <a:rPr lang="fr-FR" dirty="0"/>
              <a:t> </a:t>
            </a:r>
            <a:r>
              <a:rPr lang="fr-FR" dirty="0" err="1"/>
              <a:t>determined</a:t>
            </a:r>
            <a:r>
              <a:rPr lang="fr-FR" dirty="0"/>
              <a:t> </a:t>
            </a:r>
            <a:r>
              <a:rPr lang="fr-FR" dirty="0" err="1" smtClean="0"/>
              <a:t>parameters</a:t>
            </a:r>
            <a:r>
              <a:rPr lang="fr-FR" dirty="0" smtClean="0"/>
              <a:t>, and changes to the </a:t>
            </a:r>
            <a:r>
              <a:rPr lang="fr-FR" dirty="0" err="1" smtClean="0"/>
              <a:t>piece’s</a:t>
            </a:r>
            <a:r>
              <a:rPr lang="fr-FR" dirty="0" smtClean="0"/>
              <a:t> </a:t>
            </a:r>
            <a:r>
              <a:rPr lang="fr-FR" dirty="0" err="1" smtClean="0"/>
              <a:t>geometry</a:t>
            </a:r>
            <a:r>
              <a:rPr lang="fr-FR" dirty="0" smtClean="0"/>
              <a:t> as </a:t>
            </a:r>
            <a:r>
              <a:rPr lang="fr-FR" dirty="0" err="1" smtClean="0"/>
              <a:t>well</a:t>
            </a:r>
            <a:r>
              <a:rPr lang="fr-FR" dirty="0" smtClean="0"/>
              <a:t> as </a:t>
            </a:r>
            <a:r>
              <a:rPr lang="fr-FR" dirty="0" err="1" smtClean="0"/>
              <a:t>their</a:t>
            </a:r>
            <a:r>
              <a:rPr lang="fr-FR" dirty="0" smtClean="0"/>
              <a:t> </a:t>
            </a:r>
            <a:r>
              <a:rPr lang="fr-FR" dirty="0" err="1" smtClean="0"/>
              <a:t>cooling</a:t>
            </a:r>
            <a:r>
              <a:rPr lang="fr-FR" dirty="0" smtClean="0"/>
              <a:t> times</a:t>
            </a:r>
            <a:endParaRPr lang="fr-FR" dirty="0"/>
          </a:p>
          <a:p>
            <a:r>
              <a:rPr lang="fr-FR" b="1" dirty="0" err="1" smtClean="0"/>
              <a:t>Tamb</a:t>
            </a:r>
            <a:r>
              <a:rPr lang="fr-FR" dirty="0" smtClean="0"/>
              <a:t>: </a:t>
            </a:r>
            <a:r>
              <a:rPr lang="fr-FR" dirty="0"/>
              <a:t>Ambient </a:t>
            </a:r>
            <a:r>
              <a:rPr lang="fr-FR" dirty="0" err="1"/>
              <a:t>temperature</a:t>
            </a:r>
            <a:endParaRPr lang="fr-FR" dirty="0"/>
          </a:p>
          <a:p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B66966A-220A-4591-AF8D-3EF1F537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18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24410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52C15D4-7938-4585-B82A-0EB6C362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955EC5E-9B51-4B9E-94FD-AE29D4C0B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909" y="1090613"/>
            <a:ext cx="11256107" cy="5181600"/>
          </a:xfrm>
        </p:spPr>
        <p:txBody>
          <a:bodyPr/>
          <a:lstStyle/>
          <a:p>
            <a:r>
              <a:rPr lang="fr-FR" dirty="0"/>
              <a:t>    alpha = (0.8 </a:t>
            </a:r>
            <a:r>
              <a:rPr lang="fr-FR" dirty="0" smtClean="0"/>
              <a:t>x </a:t>
            </a:r>
            <a:r>
              <a:rPr lang="fr-FR" dirty="0" err="1"/>
              <a:t>compactness</a:t>
            </a:r>
            <a:r>
              <a:rPr lang="fr-FR" dirty="0"/>
              <a:t> + 0.9 </a:t>
            </a:r>
            <a:r>
              <a:rPr lang="fr-FR" dirty="0" smtClean="0"/>
              <a:t>x </a:t>
            </a:r>
            <a:r>
              <a:rPr lang="fr-FR" dirty="0"/>
              <a:t>(1 / (1 + </a:t>
            </a:r>
            <a:r>
              <a:rPr lang="fr-FR" dirty="0" err="1"/>
              <a:t>thickness</a:t>
            </a:r>
            <a:r>
              <a:rPr lang="fr-FR" dirty="0"/>
              <a:t>)) + 0.8 </a:t>
            </a:r>
            <a:r>
              <a:rPr lang="fr-FR" dirty="0" smtClean="0"/>
              <a:t>x </a:t>
            </a:r>
            <a:r>
              <a:rPr lang="fr-FR" dirty="0" err="1" smtClean="0"/>
              <a:t>density</a:t>
            </a:r>
            <a:r>
              <a:rPr lang="fr-FR" dirty="0" smtClean="0"/>
              <a:t>)x((</a:t>
            </a:r>
            <a:r>
              <a:rPr lang="fr-FR" dirty="0"/>
              <a:t>number_layer+23)/25)</a:t>
            </a:r>
          </a:p>
          <a:p>
            <a:r>
              <a:rPr lang="fr-FR" dirty="0"/>
              <a:t>    beta = (0.03 + 0.01 </a:t>
            </a:r>
            <a:r>
              <a:rPr lang="fr-FR" dirty="0" smtClean="0"/>
              <a:t>x </a:t>
            </a:r>
            <a:r>
              <a:rPr lang="fr-FR" dirty="0"/>
              <a:t>(1 - </a:t>
            </a:r>
            <a:r>
              <a:rPr lang="fr-FR" dirty="0" err="1"/>
              <a:t>compactness</a:t>
            </a:r>
            <a:r>
              <a:rPr lang="fr-FR" dirty="0"/>
              <a:t>) + 0.05 </a:t>
            </a:r>
            <a:r>
              <a:rPr lang="fr-FR" dirty="0" smtClean="0"/>
              <a:t>x </a:t>
            </a:r>
            <a:r>
              <a:rPr lang="fr-FR" dirty="0"/>
              <a:t>(gap / 50.0</a:t>
            </a:r>
            <a:r>
              <a:rPr lang="fr-FR" dirty="0" smtClean="0"/>
              <a:t>))x((</a:t>
            </a:r>
            <a:r>
              <a:rPr lang="fr-FR" dirty="0" err="1" smtClean="0"/>
              <a:t>time_cooling</a:t>
            </a:r>
            <a:r>
              <a:rPr lang="fr-FR" dirty="0" smtClean="0"/>
              <a:t>)^2</a:t>
            </a:r>
            <a:r>
              <a:rPr lang="fr-FR" dirty="0"/>
              <a:t>) #for more </a:t>
            </a:r>
            <a:r>
              <a:rPr lang="fr-FR" dirty="0" err="1"/>
              <a:t>realism</a:t>
            </a:r>
            <a:r>
              <a:rPr lang="fr-FR" dirty="0"/>
              <a:t> </a:t>
            </a:r>
            <a:r>
              <a:rPr lang="fr-FR" dirty="0" err="1"/>
              <a:t>divide</a:t>
            </a:r>
            <a:r>
              <a:rPr lang="fr-FR" dirty="0"/>
              <a:t> </a:t>
            </a:r>
            <a:r>
              <a:rPr lang="fr-FR" dirty="0" err="1"/>
              <a:t>cooling</a:t>
            </a:r>
            <a:r>
              <a:rPr lang="fr-FR" dirty="0"/>
              <a:t> time by 10</a:t>
            </a:r>
          </a:p>
          <a:p>
            <a:r>
              <a:rPr lang="fr-FR" dirty="0"/>
              <a:t>    gamma = (1e-6 + 5e-6 </a:t>
            </a:r>
            <a:r>
              <a:rPr lang="fr-FR" dirty="0" smtClean="0"/>
              <a:t>x </a:t>
            </a:r>
            <a:r>
              <a:rPr lang="fr-FR" dirty="0" err="1"/>
              <a:t>compactness</a:t>
            </a:r>
            <a:r>
              <a:rPr lang="fr-FR" dirty="0"/>
              <a:t> + 1e-6 </a:t>
            </a:r>
            <a:r>
              <a:rPr lang="fr-FR" dirty="0" smtClean="0"/>
              <a:t>x </a:t>
            </a:r>
            <a:r>
              <a:rPr lang="fr-FR" dirty="0"/>
              <a:t>(distance /50.0</a:t>
            </a:r>
            <a:r>
              <a:rPr lang="fr-FR" dirty="0" smtClean="0"/>
              <a:t>))x((</a:t>
            </a:r>
            <a:r>
              <a:rPr lang="fr-FR" dirty="0" err="1" smtClean="0"/>
              <a:t>time_cooling</a:t>
            </a:r>
            <a:r>
              <a:rPr lang="fr-FR" dirty="0" smtClean="0"/>
              <a:t>)^1.05</a:t>
            </a:r>
            <a:r>
              <a:rPr lang="fr-FR" dirty="0"/>
              <a:t>) #for more </a:t>
            </a:r>
            <a:r>
              <a:rPr lang="fr-FR" dirty="0" err="1"/>
              <a:t>realism</a:t>
            </a:r>
            <a:r>
              <a:rPr lang="fr-FR" dirty="0"/>
              <a:t> </a:t>
            </a:r>
            <a:r>
              <a:rPr lang="fr-FR" dirty="0" err="1"/>
              <a:t>divide</a:t>
            </a:r>
            <a:r>
              <a:rPr lang="fr-FR" dirty="0"/>
              <a:t> </a:t>
            </a:r>
            <a:r>
              <a:rPr lang="fr-FR" dirty="0" err="1"/>
              <a:t>cooling</a:t>
            </a:r>
            <a:r>
              <a:rPr lang="fr-FR" dirty="0"/>
              <a:t> time by 12</a:t>
            </a:r>
          </a:p>
          <a:p>
            <a:pPr marL="0" indent="0">
              <a:buNone/>
            </a:pPr>
            <a:r>
              <a:rPr lang="fr-FR" dirty="0"/>
              <a:t/>
            </a:r>
            <a:br>
              <a:rPr lang="fr-FR" dirty="0"/>
            </a:br>
            <a:endParaRPr lang="fr-FR" dirty="0"/>
          </a:p>
          <a:p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B66966A-220A-4591-AF8D-3EF1F537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19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79581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52C15D4-7938-4585-B82A-0EB6C362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955EC5E-9B51-4B9E-94FD-AE29D4C0B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067960"/>
            <a:ext cx="7992888" cy="5181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 Integration of AI for Path Optimization</a:t>
            </a:r>
            <a:endParaRPr lang="en-US" dirty="0"/>
          </a:p>
          <a:p>
            <a:r>
              <a:rPr lang="en-US" b="1" dirty="0"/>
              <a:t>Implemented Reinforcement Learning (Q-learning):</a:t>
            </a:r>
            <a:endParaRPr lang="en-US" dirty="0"/>
          </a:p>
          <a:p>
            <a:pPr lvl="1"/>
            <a:r>
              <a:rPr lang="en-US" dirty="0"/>
              <a:t>Defined clear states (temperature, cooling time, layers), actions (choosing next piece), and rewards (minimizing wait times).</a:t>
            </a:r>
          </a:p>
          <a:p>
            <a:pPr lvl="1"/>
            <a:r>
              <a:rPr lang="en-US" dirty="0"/>
              <a:t>Integrated RL directly into the thermal simulation pipeline for real-time decision-making.</a:t>
            </a:r>
          </a:p>
          <a:p>
            <a:r>
              <a:rPr lang="en-US" b="1" dirty="0"/>
              <a:t>Iterative refinement:</a:t>
            </a:r>
            <a:endParaRPr lang="en-US" dirty="0"/>
          </a:p>
          <a:p>
            <a:pPr lvl="1"/>
            <a:r>
              <a:rPr lang="en-US" dirty="0"/>
              <a:t>Continuously refined the RL model through numerous training episodes and trials to optimize performance.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B66966A-220A-4591-AF8D-3EF1F537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20</a:t>
            </a:fld>
            <a:endParaRPr lang="sv-S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7" t="16837" r="20612" b="15814"/>
          <a:stretch/>
        </p:blipFill>
        <p:spPr>
          <a:xfrm>
            <a:off x="7866476" y="188916"/>
            <a:ext cx="4032448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495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52C15D4-7938-4585-B82A-0EB6C362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955EC5E-9B51-4B9E-94FD-AE29D4C0B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015541"/>
            <a:ext cx="7992888" cy="5181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 Integration of AI for Path Optimization</a:t>
            </a:r>
            <a:endParaRPr lang="en-US" dirty="0"/>
          </a:p>
          <a:p>
            <a:r>
              <a:rPr lang="en-GB" dirty="0" smtClean="0"/>
              <a:t>If piece below the threshold:</a:t>
            </a:r>
          </a:p>
          <a:p>
            <a:pPr lvl="1"/>
            <a:r>
              <a:rPr lang="en-GB" dirty="0" smtClean="0"/>
              <a:t>AI can choose it </a:t>
            </a:r>
          </a:p>
          <a:p>
            <a:pPr lvl="1"/>
            <a:r>
              <a:rPr lang="en-GB" dirty="0" smtClean="0"/>
              <a:t>then piece is being printed, the heat is re calculated for every pieces and AI take the decision again</a:t>
            </a:r>
          </a:p>
          <a:p>
            <a:pPr marL="342908" lvl="1" indent="-342908">
              <a:lnSpc>
                <a:spcPct val="130000"/>
              </a:lnSpc>
              <a:buSzPct val="130000"/>
              <a:buFont typeface="Arial" charset="0"/>
              <a:buChar char="•"/>
            </a:pPr>
            <a:r>
              <a:rPr lang="en-GB" sz="2800" dirty="0">
                <a:ea typeface="+mn-ea"/>
                <a:cs typeface="+mn-cs"/>
              </a:rPr>
              <a:t>If no piece is </a:t>
            </a:r>
            <a:r>
              <a:rPr lang="en-GB" sz="2800" dirty="0" smtClean="0">
                <a:ea typeface="+mn-ea"/>
                <a:cs typeface="+mn-cs"/>
              </a:rPr>
              <a:t>ready</a:t>
            </a:r>
            <a:r>
              <a:rPr lang="en-GB" sz="2800" dirty="0">
                <a:ea typeface="+mn-ea"/>
                <a:cs typeface="+mn-cs"/>
              </a:rPr>
              <a:t>:</a:t>
            </a:r>
            <a:endParaRPr lang="en-GB" sz="2800" dirty="0" smtClean="0">
              <a:ea typeface="+mn-ea"/>
              <a:cs typeface="+mn-cs"/>
            </a:endParaRPr>
          </a:p>
          <a:p>
            <a:pPr lvl="1">
              <a:lnSpc>
                <a:spcPct val="130000"/>
              </a:lnSpc>
              <a:buSzPct val="130000"/>
            </a:pPr>
            <a:r>
              <a:rPr lang="en-GB" dirty="0"/>
              <a:t>it </a:t>
            </a:r>
            <a:r>
              <a:rPr lang="en-GB" dirty="0"/>
              <a:t>waits 10 seconds for more cooling and recalculate the </a:t>
            </a:r>
            <a:r>
              <a:rPr lang="en-GB" dirty="0" smtClean="0"/>
              <a:t>heat</a:t>
            </a:r>
          </a:p>
          <a:p>
            <a:pPr marL="342908" lvl="1" indent="-342908">
              <a:lnSpc>
                <a:spcPct val="130000"/>
              </a:lnSpc>
              <a:buSzPct val="130000"/>
              <a:buFont typeface="Arial" charset="0"/>
              <a:buChar char="•"/>
            </a:pPr>
            <a:r>
              <a:rPr lang="en-GB" sz="2800" dirty="0">
                <a:ea typeface="+mn-ea"/>
                <a:cs typeface="+mn-cs"/>
              </a:rPr>
              <a:t>The AI’s reward </a:t>
            </a:r>
            <a:r>
              <a:rPr lang="en-GB" sz="2800" dirty="0">
                <a:ea typeface="+mn-ea"/>
                <a:cs typeface="+mn-cs"/>
              </a:rPr>
              <a:t>system</a:t>
            </a:r>
            <a:r>
              <a:rPr lang="en-GB" sz="2800" dirty="0">
                <a:ea typeface="+mn-ea"/>
                <a:cs typeface="+mn-cs"/>
              </a:rPr>
              <a:t> minimize the waiting </a:t>
            </a:r>
            <a:r>
              <a:rPr lang="en-GB" sz="2800" dirty="0" smtClean="0">
                <a:ea typeface="+mn-ea"/>
                <a:cs typeface="+mn-cs"/>
              </a:rPr>
              <a:t>time</a:t>
            </a:r>
            <a:endParaRPr lang="en-GB" sz="2800" dirty="0">
              <a:ea typeface="+mn-ea"/>
              <a:cs typeface="+mn-cs"/>
            </a:endParaRPr>
          </a:p>
          <a:p>
            <a:pPr lvl="1"/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B66966A-220A-4591-AF8D-3EF1F537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21</a:t>
            </a:fld>
            <a:endParaRPr lang="sv-S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7" t="16837" r="20612" b="15814"/>
          <a:stretch/>
        </p:blipFill>
        <p:spPr>
          <a:xfrm>
            <a:off x="7866476" y="188916"/>
            <a:ext cx="4032448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52C15D4-7938-4585-B82A-0EB6C362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955EC5E-9B51-4B9E-94FD-AE29D4C0B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015541"/>
            <a:ext cx="7992888" cy="5181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 Integration of AI for Path </a:t>
            </a:r>
            <a:r>
              <a:rPr lang="en-US" b="1" dirty="0" smtClean="0"/>
              <a:t>Optimization</a:t>
            </a:r>
          </a:p>
          <a:p>
            <a:pPr marL="0" lvl="0" indent="0">
              <a:buNone/>
            </a:pPr>
            <a:r>
              <a:rPr lang="fr-FR" altLang="fr-FR" dirty="0"/>
              <a:t>The Q-value for the (state, action) pair </a:t>
            </a:r>
            <a:r>
              <a:rPr lang="fr-FR" altLang="fr-FR" dirty="0" err="1"/>
              <a:t>is</a:t>
            </a:r>
            <a:r>
              <a:rPr lang="fr-FR" altLang="fr-FR" dirty="0"/>
              <a:t> </a:t>
            </a:r>
            <a:r>
              <a:rPr lang="fr-FR" altLang="fr-FR" dirty="0" err="1"/>
              <a:t>updated</a:t>
            </a:r>
            <a:r>
              <a:rPr lang="fr-FR" altLang="fr-FR" dirty="0"/>
              <a:t> </a:t>
            </a:r>
            <a:r>
              <a:rPr lang="fr-FR" altLang="fr-FR" dirty="0" err="1"/>
              <a:t>using</a:t>
            </a:r>
            <a:r>
              <a:rPr lang="fr-FR" altLang="fr-FR" dirty="0"/>
              <a:t> the </a:t>
            </a:r>
            <a:r>
              <a:rPr lang="fr-FR" altLang="fr-FR" dirty="0" err="1"/>
              <a:t>Q-learning</a:t>
            </a:r>
            <a:r>
              <a:rPr lang="fr-FR" altLang="fr-FR" dirty="0"/>
              <a:t> formula </a:t>
            </a:r>
            <a:r>
              <a:rPr lang="fr-FR" altLang="fr-FR" dirty="0" smtClean="0"/>
              <a:t>:</a:t>
            </a:r>
            <a:endParaRPr lang="en-GB" dirty="0"/>
          </a:p>
          <a:p>
            <a:pPr marL="0" indent="0">
              <a:buNone/>
            </a:pPr>
            <a:r>
              <a:rPr lang="en-US" b="1" dirty="0"/>
              <a:t>Q(</a:t>
            </a:r>
            <a:r>
              <a:rPr lang="en-US" b="1" dirty="0" err="1"/>
              <a:t>s,a</a:t>
            </a:r>
            <a:r>
              <a:rPr lang="en-US" b="1" dirty="0"/>
              <a:t>)←Q(</a:t>
            </a:r>
            <a:r>
              <a:rPr lang="en-US" b="1" dirty="0" err="1"/>
              <a:t>s,a</a:t>
            </a:r>
            <a:r>
              <a:rPr lang="en-US" b="1" dirty="0"/>
              <a:t>)+α[</a:t>
            </a:r>
            <a:r>
              <a:rPr lang="en-US" b="1" dirty="0" err="1"/>
              <a:t>reward+γ⋅max</a:t>
            </a:r>
            <a:r>
              <a:rPr lang="en-US" b="1" dirty="0"/>
              <a:t>(Q(</a:t>
            </a:r>
            <a:r>
              <a:rPr lang="en-US" b="1" dirty="0" err="1"/>
              <a:t>s′,a</a:t>
            </a:r>
            <a:r>
              <a:rPr lang="en-US" b="1" dirty="0"/>
              <a:t>′))−Q(</a:t>
            </a:r>
            <a:r>
              <a:rPr lang="en-US" b="1" dirty="0" err="1"/>
              <a:t>s,a</a:t>
            </a:r>
            <a:r>
              <a:rPr lang="en-US" b="1" dirty="0"/>
              <a:t>)] </a:t>
            </a:r>
            <a:r>
              <a:rPr lang="en-US" dirty="0"/>
              <a:t>Where:</a:t>
            </a:r>
          </a:p>
          <a:p>
            <a:r>
              <a:rPr lang="en-US" dirty="0" smtClean="0"/>
              <a:t>α:Learning </a:t>
            </a:r>
            <a:r>
              <a:rPr lang="en-US" dirty="0"/>
              <a:t>rate (how much new information overrides old information)</a:t>
            </a:r>
          </a:p>
          <a:p>
            <a:r>
              <a:rPr lang="en-US" dirty="0" smtClean="0"/>
              <a:t>γ : </a:t>
            </a:r>
            <a:r>
              <a:rPr lang="en-US" dirty="0"/>
              <a:t>Discount factor (importance of future rewards)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B66966A-220A-4591-AF8D-3EF1F537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22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244479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52C15D4-7938-4585-B82A-0EB6C362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955EC5E-9B51-4B9E-94FD-AE29D4C0B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045371"/>
            <a:ext cx="10156092" cy="5181600"/>
          </a:xfrm>
        </p:spPr>
        <p:txBody>
          <a:bodyPr/>
          <a:lstStyle/>
          <a:p>
            <a:r>
              <a:rPr lang="en-US" b="1" dirty="0"/>
              <a:t>6. Testing and Validation</a:t>
            </a:r>
            <a:endParaRPr lang="en-US" dirty="0"/>
          </a:p>
          <a:p>
            <a:r>
              <a:rPr lang="en-US" b="1" dirty="0"/>
              <a:t>Performed extensive experimentation:</a:t>
            </a:r>
            <a:endParaRPr lang="en-US" dirty="0"/>
          </a:p>
          <a:p>
            <a:pPr lvl="1"/>
            <a:r>
              <a:rPr lang="en-US" dirty="0"/>
              <a:t>Conducted over </a:t>
            </a:r>
            <a:r>
              <a:rPr lang="en-US" dirty="0" smtClean="0"/>
              <a:t>200 </a:t>
            </a:r>
            <a:r>
              <a:rPr lang="en-US" dirty="0"/>
              <a:t>iterative trials to </a:t>
            </a:r>
            <a:r>
              <a:rPr lang="en-US" dirty="0" smtClean="0"/>
              <a:t>refine voxel </a:t>
            </a:r>
            <a:r>
              <a:rPr lang="en-US" dirty="0" smtClean="0"/>
              <a:t>representations.</a:t>
            </a:r>
            <a:endParaRPr lang="en-US" dirty="0" smtClean="0"/>
          </a:p>
          <a:p>
            <a:pPr lvl="1"/>
            <a:r>
              <a:rPr lang="en-US" dirty="0" smtClean="0"/>
              <a:t>Conducted </a:t>
            </a:r>
            <a:r>
              <a:rPr lang="en-US" dirty="0"/>
              <a:t>over </a:t>
            </a:r>
            <a:r>
              <a:rPr lang="en-US" dirty="0" smtClean="0"/>
              <a:t>300 </a:t>
            </a:r>
            <a:r>
              <a:rPr lang="en-US" dirty="0"/>
              <a:t>iterative trials to refine thermal and RL parameters.</a:t>
            </a:r>
          </a:p>
          <a:p>
            <a:pPr lvl="1"/>
            <a:r>
              <a:rPr lang="en-US" dirty="0"/>
              <a:t>Analyzed results systematically to confirm improvements in efficiency and accuracy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Printing </a:t>
            </a:r>
            <a:r>
              <a:rPr lang="en-US" dirty="0" smtClean="0"/>
              <a:t>4 </a:t>
            </a:r>
            <a:r>
              <a:rPr lang="en-US" dirty="0" smtClean="0"/>
              <a:t>pieces each time with diverse geometry </a:t>
            </a:r>
            <a:r>
              <a:rPr lang="en-US" dirty="0" smtClean="0"/>
              <a:t>complexity.</a:t>
            </a:r>
            <a:endParaRPr lang="en-US" dirty="0" smtClean="0"/>
          </a:p>
          <a:p>
            <a:pPr lvl="1"/>
            <a:r>
              <a:rPr lang="en-US" dirty="0" smtClean="0"/>
              <a:t>Compare results of the RL model with a deterministic algorithm to see if an improvement is </a:t>
            </a:r>
            <a:r>
              <a:rPr lang="en-US" dirty="0" smtClean="0"/>
              <a:t>present.</a:t>
            </a:r>
            <a:endParaRPr lang="en-US" dirty="0" smtClean="0"/>
          </a:p>
          <a:p>
            <a:pPr lvl="1"/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B66966A-220A-4591-AF8D-3EF1F537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23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94033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C754A60-53BA-40EE-B90D-440551FB3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0D6898D-0BCC-4EDB-A2B9-DC182683C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915991"/>
            <a:ext cx="11576672" cy="5181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Thermal </a:t>
            </a:r>
            <a:r>
              <a:rPr lang="en-US" b="1" dirty="0"/>
              <a:t>Simulation </a:t>
            </a:r>
            <a:r>
              <a:rPr lang="en-US" b="1" dirty="0" smtClean="0"/>
              <a:t>Effectiveness</a:t>
            </a:r>
          </a:p>
          <a:p>
            <a:r>
              <a:rPr lang="en-US" dirty="0" smtClean="0"/>
              <a:t>Mandatory to improve the printing schedule, core part of the thesis</a:t>
            </a:r>
            <a:endParaRPr lang="en-US" dirty="0"/>
          </a:p>
          <a:p>
            <a:r>
              <a:rPr lang="en-US" dirty="0"/>
              <a:t>Developed a robust, simplified heat simulation model.</a:t>
            </a:r>
          </a:p>
          <a:p>
            <a:r>
              <a:rPr lang="en-US" dirty="0"/>
              <a:t>Achieved realistic temperature profiles across different layers and piece geometries through calibrated empirical parameters (α, β, γ).</a:t>
            </a:r>
          </a:p>
          <a:p>
            <a:pPr marL="0" indent="0">
              <a:buNone/>
            </a:pPr>
            <a:r>
              <a:rPr lang="en-US" b="1" dirty="0"/>
              <a:t>Voxel Representation Accuracy</a:t>
            </a:r>
            <a:endParaRPr lang="en-US" dirty="0"/>
          </a:p>
          <a:p>
            <a:r>
              <a:rPr lang="en-US" dirty="0"/>
              <a:t>Achieved precise voxel-based representation of the printed pieces.</a:t>
            </a:r>
          </a:p>
          <a:p>
            <a:r>
              <a:rPr lang="en-US" dirty="0" smtClean="0"/>
              <a:t>Crucial for </a:t>
            </a:r>
            <a:r>
              <a:rPr lang="en-US" dirty="0"/>
              <a:t>effective thermal analysis through accurate and efficient geometric modeling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6FD2327D-ADC0-4523-AAFA-AC0E8B74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24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6550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C754A60-53BA-40EE-B90D-440551FB3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6FD2327D-ADC0-4523-AAFA-AC0E8B74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25</a:t>
            </a:fld>
            <a:endParaRPr lang="sv-SE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00" y="726100"/>
            <a:ext cx="2471421" cy="2815543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875" y="1484784"/>
            <a:ext cx="3289383" cy="1044907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192" y="3538332"/>
            <a:ext cx="3196066" cy="3196066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2783" y="820628"/>
            <a:ext cx="2936633" cy="2524106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86" y="3541643"/>
            <a:ext cx="3473367" cy="3192755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387" y="3532236"/>
            <a:ext cx="3214765" cy="321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97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C754A60-53BA-40EE-B90D-440551FB3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0D6898D-0BCC-4EDB-A2B9-DC182683C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915991"/>
            <a:ext cx="11576672" cy="5181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Efficiency </a:t>
            </a:r>
            <a:r>
              <a:rPr lang="en-US" b="1" dirty="0"/>
              <a:t>Gains through Reinforcement Learning</a:t>
            </a:r>
            <a:endParaRPr lang="en-US" dirty="0"/>
          </a:p>
          <a:p>
            <a:r>
              <a:rPr lang="en-US" dirty="0"/>
              <a:t>Reinforcement Learning (Q-learning) significantly optimized printing sequences.</a:t>
            </a:r>
          </a:p>
          <a:p>
            <a:r>
              <a:rPr lang="en-US" dirty="0"/>
              <a:t>Achieved notable efficiency improvements:</a:t>
            </a:r>
          </a:p>
          <a:p>
            <a:pPr lvl="1"/>
            <a:r>
              <a:rPr lang="en-US" b="1" dirty="0"/>
              <a:t>Up to 13.16% reduction in total build time</a:t>
            </a:r>
            <a:r>
              <a:rPr lang="en-US" dirty="0"/>
              <a:t> compared to deterministic path selection algorithms.</a:t>
            </a:r>
          </a:p>
          <a:p>
            <a:pPr lvl="1"/>
            <a:r>
              <a:rPr lang="en-US" dirty="0"/>
              <a:t>Consistently better performance with realistic thermal parameter tuning.</a:t>
            </a:r>
          </a:p>
          <a:p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6FD2327D-ADC0-4523-AAFA-AC0E8B74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26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4097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C754A60-53BA-40EE-B90D-440551FB3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6FD2327D-ADC0-4523-AAFA-AC0E8B74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27</a:t>
            </a:fld>
            <a:endParaRPr lang="sv-SE" dirty="0"/>
          </a:p>
        </p:txBody>
      </p:sp>
      <p:graphicFrame>
        <p:nvGraphicFramePr>
          <p:cNvPr id="7" name="Espace réservé du contenu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4077157"/>
              </p:ext>
            </p:extLst>
          </p:nvPr>
        </p:nvGraphicFramePr>
        <p:xfrm>
          <a:off x="623392" y="1124744"/>
          <a:ext cx="11089232" cy="2736304"/>
        </p:xfrm>
        <a:graphic>
          <a:graphicData uri="http://schemas.openxmlformats.org/drawingml/2006/table">
            <a:tbl>
              <a:tblPr/>
              <a:tblGrid>
                <a:gridCol w="2772308">
                  <a:extLst>
                    <a:ext uri="{9D8B030D-6E8A-4147-A177-3AD203B41FA5}">
                      <a16:colId xmlns:a16="http://schemas.microsoft.com/office/drawing/2014/main" val="1556745927"/>
                    </a:ext>
                  </a:extLst>
                </a:gridCol>
                <a:gridCol w="2772308">
                  <a:extLst>
                    <a:ext uri="{9D8B030D-6E8A-4147-A177-3AD203B41FA5}">
                      <a16:colId xmlns:a16="http://schemas.microsoft.com/office/drawing/2014/main" val="1957410200"/>
                    </a:ext>
                  </a:extLst>
                </a:gridCol>
                <a:gridCol w="2772308">
                  <a:extLst>
                    <a:ext uri="{9D8B030D-6E8A-4147-A177-3AD203B41FA5}">
                      <a16:colId xmlns:a16="http://schemas.microsoft.com/office/drawing/2014/main" val="2129591598"/>
                    </a:ext>
                  </a:extLst>
                </a:gridCol>
                <a:gridCol w="2772308">
                  <a:extLst>
                    <a:ext uri="{9D8B030D-6E8A-4147-A177-3AD203B41FA5}">
                      <a16:colId xmlns:a16="http://schemas.microsoft.com/office/drawing/2014/main" val="917452050"/>
                    </a:ext>
                  </a:extLst>
                </a:gridCol>
              </a:tblGrid>
              <a:tr h="497510">
                <a:tc>
                  <a:txBody>
                    <a:bodyPr/>
                    <a:lstStyle/>
                    <a:p>
                      <a:r>
                        <a:rPr lang="fr-FR" b="1"/>
                        <a:t>Test Scenario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1"/>
                        <a:t>RL Model Time (s)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1"/>
                        <a:t>Algorithm Time (s)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1"/>
                        <a:t>Improvement (%)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922104"/>
                  </a:ext>
                </a:extLst>
              </a:tr>
              <a:tr h="497510">
                <a:tc>
                  <a:txBody>
                    <a:bodyPr/>
                    <a:lstStyle/>
                    <a:p>
                      <a:r>
                        <a:rPr lang="fr-FR"/>
                        <a:t>5-layer test 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1548.43 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1604.12 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1"/>
                        <a:t>+3.47%</a:t>
                      </a:r>
                      <a:r>
                        <a:rPr lang="fr-FR"/>
                        <a:t> (RL faster)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554207"/>
                  </a:ext>
                </a:extLst>
              </a:tr>
              <a:tr h="870642">
                <a:tc>
                  <a:txBody>
                    <a:bodyPr/>
                    <a:lstStyle/>
                    <a:p>
                      <a:r>
                        <a:rPr lang="fr-FR"/>
                        <a:t>10-layer realistic 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6314.76 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7271.21 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1"/>
                        <a:t>+13.16%</a:t>
                      </a:r>
                      <a:r>
                        <a:rPr lang="fr-FR"/>
                        <a:t> (RL faster)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16523"/>
                  </a:ext>
                </a:extLst>
              </a:tr>
              <a:tr h="870642">
                <a:tc>
                  <a:txBody>
                    <a:bodyPr/>
                    <a:lstStyle/>
                    <a:p>
                      <a:r>
                        <a:rPr lang="fr-FR"/>
                        <a:t>5-layer refined 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2575.98 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2629.95 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+2.05%</a:t>
                      </a:r>
                      <a:r>
                        <a:rPr lang="fr-FR" dirty="0"/>
                        <a:t> (RL </a:t>
                      </a:r>
                      <a:r>
                        <a:rPr lang="fr-FR" dirty="0" err="1"/>
                        <a:t>faster</a:t>
                      </a:r>
                      <a:r>
                        <a:rPr lang="fr-F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6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033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3AA6554-6568-421B-A008-2D6106965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2833CF4-BAC1-49E0-AA78-5CF7BAE74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424" y="938580"/>
            <a:ext cx="10156092" cy="5181600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Results:</a:t>
            </a:r>
          </a:p>
          <a:p>
            <a:r>
              <a:rPr lang="en-GB" dirty="0" smtClean="0"/>
              <a:t>The results were up to the expectations with a faster printing methods using RL than deterministic or just no algorithm at all.</a:t>
            </a:r>
          </a:p>
          <a:p>
            <a:r>
              <a:rPr lang="en-GB" dirty="0" smtClean="0"/>
              <a:t>The literature study results were also showing a better performance with RL methods.</a:t>
            </a:r>
          </a:p>
          <a:p>
            <a:pPr marL="0" indent="0">
              <a:buNone/>
            </a:pPr>
            <a:r>
              <a:rPr lang="en-GB" dirty="0" smtClean="0"/>
              <a:t>Recommendations:</a:t>
            </a:r>
          </a:p>
          <a:p>
            <a:r>
              <a:rPr lang="en-GB" dirty="0" smtClean="0"/>
              <a:t>Digging more into RL driven path selection for metal 3d printing in WAAM.</a:t>
            </a:r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EF822B5-050D-4EAC-A9C3-DB453BCF7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28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10372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E5868DE-00DD-43A4-8F3D-A919C8DC1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EA23A1B-D5F4-4F8E-B4F1-C7909C5CE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370" y="1021661"/>
            <a:ext cx="10156092" cy="5181600"/>
          </a:xfrm>
        </p:spPr>
        <p:txBody>
          <a:bodyPr/>
          <a:lstStyle/>
          <a:p>
            <a:pPr marL="0" marR="0" lvl="0" indent="0" defTabSz="914400" latinLnBrk="0">
              <a:buNone/>
              <a:tabLst/>
            </a:pPr>
            <a:r>
              <a:rPr lang="fr-FR" altLang="fr-FR" dirty="0" err="1" smtClean="0"/>
              <a:t>Aims</a:t>
            </a:r>
            <a:r>
              <a:rPr lang="fr-FR" altLang="fr-FR" dirty="0" smtClean="0"/>
              <a:t> and how the </a:t>
            </a:r>
            <a:r>
              <a:rPr lang="fr-FR" altLang="fr-FR" dirty="0" err="1" smtClean="0"/>
              <a:t>results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fulfilled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them</a:t>
            </a:r>
            <a:r>
              <a:rPr lang="fr-FR" altLang="fr-FR" dirty="0" smtClean="0"/>
              <a:t>:</a:t>
            </a:r>
          </a:p>
          <a:p>
            <a:pPr marR="0" lvl="0" defTabSz="914400" latinLnBrk="0">
              <a:tabLst/>
            </a:pPr>
            <a:r>
              <a:rPr lang="fr-FR" altLang="fr-FR" dirty="0" err="1" smtClean="0"/>
              <a:t>Develop</a:t>
            </a:r>
            <a:r>
              <a:rPr lang="fr-FR" altLang="fr-FR" dirty="0" smtClean="0"/>
              <a:t> </a:t>
            </a:r>
            <a:r>
              <a:rPr lang="fr-FR" altLang="fr-FR" dirty="0"/>
              <a:t>a </a:t>
            </a:r>
            <a:r>
              <a:rPr lang="fr-FR" altLang="fr-FR" dirty="0" err="1"/>
              <a:t>realistic</a:t>
            </a:r>
            <a:r>
              <a:rPr lang="fr-FR" altLang="fr-FR" dirty="0"/>
              <a:t>, </a:t>
            </a:r>
            <a:r>
              <a:rPr lang="fr-FR" altLang="fr-FR" dirty="0" err="1"/>
              <a:t>physics-based</a:t>
            </a:r>
            <a:r>
              <a:rPr lang="fr-FR" altLang="fr-FR" dirty="0"/>
              <a:t> simulation model for WAAM</a:t>
            </a:r>
          </a:p>
          <a:p>
            <a:pPr marR="0" lvl="0" defTabSz="914400" latinLnBrk="0">
              <a:tabLst/>
            </a:pPr>
            <a:r>
              <a:rPr lang="fr-FR" altLang="fr-FR" dirty="0" err="1"/>
              <a:t>Implement</a:t>
            </a:r>
            <a:r>
              <a:rPr lang="fr-FR" altLang="fr-FR" dirty="0"/>
              <a:t> an </a:t>
            </a:r>
            <a:r>
              <a:rPr lang="fr-FR" altLang="fr-FR" dirty="0" err="1"/>
              <a:t>accurate</a:t>
            </a:r>
            <a:r>
              <a:rPr lang="fr-FR" altLang="fr-FR" dirty="0"/>
              <a:t> </a:t>
            </a:r>
            <a:r>
              <a:rPr lang="fr-FR" altLang="fr-FR" dirty="0" err="1"/>
              <a:t>voxel-based</a:t>
            </a:r>
            <a:r>
              <a:rPr lang="fr-FR" altLang="fr-FR" dirty="0"/>
              <a:t> </a:t>
            </a:r>
            <a:r>
              <a:rPr lang="fr-FR" altLang="fr-FR" dirty="0" err="1"/>
              <a:t>representation</a:t>
            </a:r>
            <a:r>
              <a:rPr lang="fr-FR" altLang="fr-FR" dirty="0"/>
              <a:t> of </a:t>
            </a:r>
            <a:r>
              <a:rPr lang="fr-FR" altLang="fr-FR" dirty="0" err="1"/>
              <a:t>printed</a:t>
            </a:r>
            <a:r>
              <a:rPr lang="fr-FR" altLang="fr-FR" dirty="0"/>
              <a:t> </a:t>
            </a:r>
            <a:r>
              <a:rPr lang="fr-FR" altLang="fr-FR" dirty="0" err="1"/>
              <a:t>pieces</a:t>
            </a:r>
            <a:endParaRPr lang="fr-FR" altLang="fr-FR" dirty="0"/>
          </a:p>
          <a:p>
            <a:pPr marR="0" lvl="0" defTabSz="914400" latinLnBrk="0">
              <a:tabLst/>
            </a:pPr>
            <a:r>
              <a:rPr lang="fr-FR" altLang="fr-FR" dirty="0" err="1"/>
              <a:t>Perform</a:t>
            </a:r>
            <a:r>
              <a:rPr lang="fr-FR" altLang="fr-FR" dirty="0"/>
              <a:t> thermal simulations to </a:t>
            </a:r>
            <a:r>
              <a:rPr lang="fr-FR" altLang="fr-FR" dirty="0" err="1"/>
              <a:t>optimize</a:t>
            </a:r>
            <a:r>
              <a:rPr lang="fr-FR" altLang="fr-FR" dirty="0"/>
              <a:t> printing </a:t>
            </a:r>
            <a:r>
              <a:rPr lang="fr-FR" altLang="fr-FR" dirty="0" err="1"/>
              <a:t>sequences</a:t>
            </a:r>
            <a:endParaRPr lang="fr-FR" altLang="fr-FR" dirty="0"/>
          </a:p>
          <a:p>
            <a:pPr marR="0" lvl="0" defTabSz="914400" latinLnBrk="0">
              <a:tabLst/>
            </a:pPr>
            <a:r>
              <a:rPr lang="fr-FR" altLang="fr-FR" dirty="0"/>
              <a:t>Use </a:t>
            </a:r>
            <a:r>
              <a:rPr lang="fr-FR" altLang="fr-FR" dirty="0" err="1"/>
              <a:t>Reinforcement</a:t>
            </a:r>
            <a:r>
              <a:rPr lang="fr-FR" altLang="fr-FR" dirty="0"/>
              <a:t> Learning (RL) to </a:t>
            </a:r>
            <a:r>
              <a:rPr lang="fr-FR" altLang="fr-FR" dirty="0" err="1"/>
              <a:t>autonomously</a:t>
            </a:r>
            <a:r>
              <a:rPr lang="fr-FR" altLang="fr-FR" dirty="0"/>
              <a:t> </a:t>
            </a:r>
            <a:r>
              <a:rPr lang="fr-FR" altLang="fr-FR" dirty="0" err="1"/>
              <a:t>improve</a:t>
            </a:r>
            <a:r>
              <a:rPr lang="fr-FR" altLang="fr-FR" dirty="0"/>
              <a:t> </a:t>
            </a:r>
            <a:r>
              <a:rPr lang="fr-FR" altLang="fr-FR" dirty="0" err="1"/>
              <a:t>build</a:t>
            </a:r>
            <a:r>
              <a:rPr lang="fr-FR" altLang="fr-FR" dirty="0"/>
              <a:t> </a:t>
            </a:r>
            <a:r>
              <a:rPr lang="fr-FR" altLang="fr-FR" dirty="0" err="1"/>
              <a:t>sequences</a:t>
            </a:r>
            <a:endParaRPr lang="fr-FR" altLang="fr-FR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6BD68DF9-ED78-46F4-B76D-B3F3C8AAE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29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4335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E5868DE-00DD-43A4-8F3D-A919C8DC1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EA23A1B-D5F4-4F8E-B4F1-C7909C5CE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370" y="1021661"/>
            <a:ext cx="10156092" cy="5181600"/>
          </a:xfrm>
        </p:spPr>
        <p:txBody>
          <a:bodyPr/>
          <a:lstStyle/>
          <a:p>
            <a:pPr marL="0" marR="0" lvl="0" indent="0" defTabSz="914400" latinLnBrk="0">
              <a:buNone/>
              <a:tabLst/>
            </a:pPr>
            <a:r>
              <a:rPr lang="fr-FR" altLang="fr-FR" dirty="0" smtClean="0"/>
              <a:t>Contributions:</a:t>
            </a:r>
          </a:p>
          <a:p>
            <a:r>
              <a:rPr lang="fr-FR" altLang="fr-FR" dirty="0" err="1" smtClean="0"/>
              <a:t>Voxel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Representation</a:t>
            </a:r>
            <a:endParaRPr lang="fr-FR" altLang="fr-FR" dirty="0" smtClean="0"/>
          </a:p>
          <a:p>
            <a:r>
              <a:rPr lang="fr-FR" altLang="fr-FR" dirty="0" err="1" smtClean="0"/>
              <a:t>Heat</a:t>
            </a:r>
            <a:r>
              <a:rPr lang="fr-FR" altLang="fr-FR" dirty="0" smtClean="0"/>
              <a:t> simulation</a:t>
            </a:r>
          </a:p>
          <a:p>
            <a:r>
              <a:rPr lang="fr-FR" altLang="fr-FR" dirty="0" smtClean="0"/>
              <a:t>First RL trials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6BD68DF9-ED78-46F4-B76D-B3F3C8AAE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30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44678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E5868DE-00DD-43A4-8F3D-A919C8DC1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EA23A1B-D5F4-4F8E-B4F1-C7909C5CE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370" y="1021661"/>
            <a:ext cx="10156092" cy="5181600"/>
          </a:xfrm>
        </p:spPr>
        <p:txBody>
          <a:bodyPr/>
          <a:lstStyle/>
          <a:p>
            <a:pPr marL="0" marR="0" lvl="0" indent="0" defTabSz="914400" latinLnBrk="0">
              <a:buNone/>
              <a:tabLst/>
            </a:pPr>
            <a:r>
              <a:rPr lang="fr-FR" altLang="fr-FR" dirty="0" smtClean="0"/>
              <a:t>Limitations:</a:t>
            </a:r>
          </a:p>
          <a:p>
            <a:r>
              <a:rPr lang="fr-FR" altLang="fr-FR" dirty="0" smtClean="0"/>
              <a:t>General </a:t>
            </a:r>
            <a:r>
              <a:rPr lang="fr-FR" altLang="fr-FR" dirty="0" err="1" smtClean="0"/>
              <a:t>heat</a:t>
            </a:r>
            <a:r>
              <a:rPr lang="fr-FR" altLang="fr-FR" dirty="0" smtClean="0"/>
              <a:t> simulation for the </a:t>
            </a:r>
            <a:r>
              <a:rPr lang="fr-FR" altLang="fr-FR" dirty="0" err="1" smtClean="0"/>
              <a:t>whole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piece</a:t>
            </a:r>
            <a:endParaRPr lang="fr-FR" altLang="fr-FR" dirty="0" smtClean="0"/>
          </a:p>
          <a:p>
            <a:r>
              <a:rPr lang="fr-FR" altLang="fr-FR" dirty="0" smtClean="0"/>
              <a:t>No </a:t>
            </a:r>
            <a:r>
              <a:rPr lang="fr-FR" altLang="fr-FR" dirty="0" err="1" smtClean="0"/>
              <a:t>deep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Reinforcement</a:t>
            </a:r>
            <a:r>
              <a:rPr lang="fr-FR" altLang="fr-FR" dirty="0" smtClean="0"/>
              <a:t> Learning</a:t>
            </a:r>
          </a:p>
          <a:p>
            <a:r>
              <a:rPr lang="fr-FR" altLang="fr-FR" dirty="0" smtClean="0"/>
              <a:t>No real trial on the real </a:t>
            </a:r>
            <a:r>
              <a:rPr lang="fr-FR" altLang="fr-FR" dirty="0" smtClean="0"/>
              <a:t>machine</a:t>
            </a:r>
            <a:endParaRPr lang="fr-FR" altLang="fr-FR" dirty="0" smtClean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6BD68DF9-ED78-46F4-B76D-B3F3C8AAE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31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1639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C9D80F2-68AE-4C3C-BFF4-C502BB004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work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6840FF6-9C45-44BB-ADAC-302F9D384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045371"/>
            <a:ext cx="10156092" cy="5181600"/>
          </a:xfrm>
        </p:spPr>
        <p:txBody>
          <a:bodyPr/>
          <a:lstStyle/>
          <a:p>
            <a:r>
              <a:rPr lang="en-GB" noProof="0" dirty="0" smtClean="0"/>
              <a:t>Deep Q-learning RL (take heat map into </a:t>
            </a:r>
            <a:r>
              <a:rPr lang="en-GB" noProof="0" dirty="0" smtClean="0"/>
              <a:t>parameter)</a:t>
            </a:r>
            <a:endParaRPr lang="en-GB" noProof="0" dirty="0" smtClean="0"/>
          </a:p>
          <a:p>
            <a:r>
              <a:rPr lang="en-GB" dirty="0" smtClean="0"/>
              <a:t>Simulate heat on each voxel according to the voxel’s cooling time instead of the piece</a:t>
            </a:r>
          </a:p>
          <a:p>
            <a:r>
              <a:rPr lang="en-GB" dirty="0" smtClean="0"/>
              <a:t>Better heat simulation that simulate on every layer of the piece at once, and better propagation through the </a:t>
            </a:r>
            <a:r>
              <a:rPr lang="en-GB" dirty="0" smtClean="0"/>
              <a:t>piece</a:t>
            </a:r>
          </a:p>
          <a:p>
            <a:endParaRPr lang="en-GB" dirty="0" smtClean="0"/>
          </a:p>
          <a:p>
            <a:endParaRPr lang="en-GB" noProof="0" dirty="0">
              <a:solidFill>
                <a:srgbClr val="FF0000"/>
              </a:solidFill>
            </a:endParaRPr>
          </a:p>
          <a:p>
            <a:endParaRPr lang="en-GB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FA2203CD-C582-4446-8CF7-EA3D99F9C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72FD5-7352-4B41-AE9B-C0AED098AC31}" type="slidenum">
              <a:rPr lang="sv-SE" smtClean="0"/>
              <a:pPr/>
              <a:t>32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2349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722603" y="1052512"/>
            <a:ext cx="4981910" cy="4680744"/>
          </a:xfrm>
        </p:spPr>
        <p:txBody>
          <a:bodyPr/>
          <a:lstStyle/>
          <a:p>
            <a:r>
              <a:rPr lang="en-GB" sz="4800" dirty="0">
                <a:solidFill>
                  <a:schemeClr val="tx1"/>
                </a:solidFill>
              </a:rPr>
              <a:t>Thanks for </a:t>
            </a:r>
            <a:br>
              <a:rPr lang="en-GB" sz="4800" dirty="0">
                <a:solidFill>
                  <a:schemeClr val="tx1"/>
                </a:solidFill>
              </a:rPr>
            </a:br>
            <a:r>
              <a:rPr lang="en-GB" sz="4800" dirty="0">
                <a:solidFill>
                  <a:schemeClr val="tx1"/>
                </a:solidFill>
              </a:rPr>
              <a:t>your interest!</a:t>
            </a:r>
            <a:br>
              <a:rPr lang="en-GB" sz="4800" dirty="0">
                <a:solidFill>
                  <a:schemeClr val="tx1"/>
                </a:solidFill>
              </a:rPr>
            </a:br>
            <a:r>
              <a:rPr lang="en-GB" sz="4800" dirty="0">
                <a:solidFill>
                  <a:schemeClr val="tx1"/>
                </a:solidFill>
              </a:rPr>
              <a:t/>
            </a:r>
            <a:br>
              <a:rPr lang="en-GB" sz="4800" dirty="0">
                <a:solidFill>
                  <a:schemeClr val="tx1"/>
                </a:solidFill>
              </a:rPr>
            </a:br>
            <a:r>
              <a:rPr lang="en-GB" sz="2400" dirty="0" smtClean="0">
                <a:solidFill>
                  <a:schemeClr val="tx1"/>
                </a:solidFill>
              </a:rPr>
              <a:t>JUSTINE Jean</a:t>
            </a:r>
            <a:r>
              <a:rPr lang="en-GB" sz="3600" b="0" dirty="0">
                <a:solidFill>
                  <a:schemeClr val="tx1"/>
                </a:solidFill>
              </a:rPr>
              <a:t/>
            </a:r>
            <a:br>
              <a:rPr lang="en-GB" sz="3600" b="0" dirty="0">
                <a:solidFill>
                  <a:schemeClr val="tx1"/>
                </a:solidFill>
              </a:rPr>
            </a:br>
            <a:r>
              <a:rPr lang="en-GB" sz="3600" b="0" dirty="0">
                <a:solidFill>
                  <a:schemeClr val="tx1"/>
                </a:solidFill>
              </a:rPr>
              <a:t/>
            </a:r>
            <a:br>
              <a:rPr lang="en-GB" sz="3600" b="0" dirty="0">
                <a:solidFill>
                  <a:schemeClr val="tx1"/>
                </a:solidFill>
              </a:rPr>
            </a:br>
            <a:endParaRPr lang="en-GB" sz="2000" b="0" dirty="0">
              <a:solidFill>
                <a:schemeClr val="tx1"/>
              </a:solidFill>
            </a:endParaRPr>
          </a:p>
        </p:txBody>
      </p:sp>
      <p:pic>
        <p:nvPicPr>
          <p:cNvPr id="6" name="Picture Placeholder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1" r="3681"/>
          <a:stretch>
            <a:fillRect/>
          </a:stretch>
        </p:blipFill>
        <p:spPr>
          <a:xfrm>
            <a:off x="695400" y="0"/>
            <a:ext cx="4538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44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ogskolan_Vast_ OH-mall_engelsk">
  <a:themeElements>
    <a:clrScheme name="Hogskolan_Vast_ OH-mall_engelsk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Hogskolan_Vast_ OH-mall_engels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Hogskolan_Vast_ OH-mall_engelsk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ogskolan_Vast_ OH-mall_engelsk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ogskolan_Vast_ OH-mall_engelsk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ogskolan_Vast_ OH-mall_engelsk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ogskolan_Vast_ OH-mall_engels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ogskolan_Vast_ OH-mall_engels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ogskolan_Vast_ OH-mall_engels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54139</TotalTime>
  <Words>2515</Words>
  <Application>Microsoft Office PowerPoint</Application>
  <PresentationFormat>Grand écran</PresentationFormat>
  <Paragraphs>383</Paragraphs>
  <Slides>33</Slides>
  <Notes>33</Notes>
  <HiddenSlides>0</HiddenSlides>
  <MMClips>1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8" baseType="lpstr">
      <vt:lpstr>Arial</vt:lpstr>
      <vt:lpstr>Calibri</vt:lpstr>
      <vt:lpstr>Times New Roman</vt:lpstr>
      <vt:lpstr>Wingdings</vt:lpstr>
      <vt:lpstr>Hogskolan_Vast_ OH-mall_engelsk</vt:lpstr>
      <vt:lpstr>Degree project  presentation  University West  Trollhättan, Sweden   www.hv.se/en </vt:lpstr>
      <vt:lpstr>Title</vt:lpstr>
      <vt:lpstr>Introduction</vt:lpstr>
      <vt:lpstr>Aims</vt:lpstr>
      <vt:lpstr>Aims</vt:lpstr>
      <vt:lpstr>Background</vt:lpstr>
      <vt:lpstr>Methodology</vt:lpstr>
      <vt:lpstr>Methodology</vt:lpstr>
      <vt:lpstr>Methodology</vt:lpstr>
      <vt:lpstr>Methodology</vt:lpstr>
      <vt:lpstr>Methodology</vt:lpstr>
      <vt:lpstr>Methodology</vt:lpstr>
      <vt:lpstr>Approach</vt:lpstr>
      <vt:lpstr>Approach</vt:lpstr>
      <vt:lpstr>Approach</vt:lpstr>
      <vt:lpstr>Approach</vt:lpstr>
      <vt:lpstr>Approach</vt:lpstr>
      <vt:lpstr>Approach</vt:lpstr>
      <vt:lpstr>Approach</vt:lpstr>
      <vt:lpstr>Approach</vt:lpstr>
      <vt:lpstr>Approach</vt:lpstr>
      <vt:lpstr>Approach</vt:lpstr>
      <vt:lpstr>Approach</vt:lpstr>
      <vt:lpstr>Results</vt:lpstr>
      <vt:lpstr>Results</vt:lpstr>
      <vt:lpstr>Results</vt:lpstr>
      <vt:lpstr>Results</vt:lpstr>
      <vt:lpstr>Discussion</vt:lpstr>
      <vt:lpstr>Conclusion</vt:lpstr>
      <vt:lpstr>Conclusion</vt:lpstr>
      <vt:lpstr>Conclusion</vt:lpstr>
      <vt:lpstr>Future work</vt:lpstr>
      <vt:lpstr>Thanks for  your interest!  JUSTINE Jean  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Bo.Svensson@hv.se</dc:creator>
  <cp:lastModifiedBy>Jean</cp:lastModifiedBy>
  <cp:revision>1761</cp:revision>
  <dcterms:created xsi:type="dcterms:W3CDTF">2003-03-06T09:41:01Z</dcterms:created>
  <dcterms:modified xsi:type="dcterms:W3CDTF">2025-06-01T22:10:19Z</dcterms:modified>
</cp:coreProperties>
</file>