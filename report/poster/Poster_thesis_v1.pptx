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sv-SE"/>
    </a:defPPr>
    <a:lvl1pPr algn="l" defTabSz="3506788" rtl="0" eaLnBrk="0" fontAlgn="base" hangingPunct="0">
      <a:spcBef>
        <a:spcPct val="0"/>
      </a:spcBef>
      <a:spcAft>
        <a:spcPct val="0"/>
      </a:spcAft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1pPr>
    <a:lvl2pPr marL="1752600" indent="-1295400" algn="l" defTabSz="3506788" rtl="0" eaLnBrk="0" fontAlgn="base" hangingPunct="0">
      <a:spcBef>
        <a:spcPct val="0"/>
      </a:spcBef>
      <a:spcAft>
        <a:spcPct val="0"/>
      </a:spcAft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2pPr>
    <a:lvl3pPr marL="3506788" indent="-2592388" algn="l" defTabSz="3506788" rtl="0" eaLnBrk="0" fontAlgn="base" hangingPunct="0">
      <a:spcBef>
        <a:spcPct val="0"/>
      </a:spcBef>
      <a:spcAft>
        <a:spcPct val="0"/>
      </a:spcAft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3pPr>
    <a:lvl4pPr marL="5260975" indent="-3889375" algn="l" defTabSz="3506788" rtl="0" eaLnBrk="0" fontAlgn="base" hangingPunct="0">
      <a:spcBef>
        <a:spcPct val="0"/>
      </a:spcBef>
      <a:spcAft>
        <a:spcPct val="0"/>
      </a:spcAft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4pPr>
    <a:lvl5pPr marL="7015163" indent="-5186363" algn="l" defTabSz="3506788" rtl="0" eaLnBrk="0" fontAlgn="base" hangingPunct="0">
      <a:spcBef>
        <a:spcPct val="0"/>
      </a:spcBef>
      <a:spcAft>
        <a:spcPct val="0"/>
      </a:spcAft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6900" kern="1200">
        <a:solidFill>
          <a:schemeClr val="tx1"/>
        </a:solidFill>
        <a:latin typeface="Garamond" panose="02020404030301010803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>
          <p15:clr>
            <a:srgbClr val="A4A3A4"/>
          </p15:clr>
        </p15:guide>
        <p15:guide id="2" pos="17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9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21" autoAdjust="0"/>
  </p:normalViewPr>
  <p:slideViewPr>
    <p:cSldViewPr snapToGrid="0">
      <p:cViewPr varScale="1">
        <p:scale>
          <a:sx n="14" d="100"/>
          <a:sy n="14" d="100"/>
        </p:scale>
        <p:origin x="2582" y="134"/>
      </p:cViewPr>
      <p:guideLst>
        <p:guide orient="horz" pos="13481"/>
        <p:guide pos="1788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350773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DB02D32-317D-4369-8B38-E333566E2E0D}" type="datetimeFigureOut">
              <a:rPr lang="sv-SE" altLang="sv-SE"/>
              <a:pPr>
                <a:defRPr/>
              </a:pPr>
              <a:t>2025-05-21</a:t>
            </a:fld>
            <a:endParaRPr lang="sv-SE" alt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sv-SE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sv-SE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350773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B4F0819-C243-4D7B-986C-A0060B48D23F}" type="slidenum">
              <a:rPr lang="sv-SE" altLang="sv-SE"/>
              <a:pPr>
                <a:defRPr/>
              </a:pPr>
              <a:t>‹N°›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41787135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3506788" rtl="0" eaLnBrk="0" fontAlgn="base" hangingPunct="0">
      <a:spcBef>
        <a:spcPct val="30000"/>
      </a:spcBef>
      <a:spcAft>
        <a:spcPct val="0"/>
      </a:spcAft>
      <a:defRPr sz="46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1pPr>
    <a:lvl2pPr marL="1752600" algn="l" defTabSz="3506788" rtl="0" eaLnBrk="0" fontAlgn="base" hangingPunct="0">
      <a:spcBef>
        <a:spcPct val="30000"/>
      </a:spcBef>
      <a:spcAft>
        <a:spcPct val="0"/>
      </a:spcAft>
      <a:defRPr sz="46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2pPr>
    <a:lvl3pPr marL="3506788" algn="l" defTabSz="3506788" rtl="0" eaLnBrk="0" fontAlgn="base" hangingPunct="0">
      <a:spcBef>
        <a:spcPct val="30000"/>
      </a:spcBef>
      <a:spcAft>
        <a:spcPct val="0"/>
      </a:spcAft>
      <a:defRPr sz="46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3pPr>
    <a:lvl4pPr marL="5260975" algn="l" defTabSz="3506788" rtl="0" eaLnBrk="0" fontAlgn="base" hangingPunct="0">
      <a:spcBef>
        <a:spcPct val="30000"/>
      </a:spcBef>
      <a:spcAft>
        <a:spcPct val="0"/>
      </a:spcAft>
      <a:defRPr sz="46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4pPr>
    <a:lvl5pPr marL="7015163" algn="l" defTabSz="3506788" rtl="0" eaLnBrk="0" fontAlgn="base" hangingPunct="0">
      <a:spcBef>
        <a:spcPct val="30000"/>
      </a:spcBef>
      <a:spcAft>
        <a:spcPct val="0"/>
      </a:spcAft>
      <a:defRPr sz="46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350773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sz="4603">
              <a:ea typeface="+mn-ea"/>
              <a:cs typeface="+mn-cs"/>
            </a:endParaRPr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1pPr>
            <a:lvl2pPr marL="742950" indent="-285750"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2pPr>
            <a:lvl3pPr marL="1143000" indent="-228600"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3pPr>
            <a:lvl4pPr marL="1600200" indent="-228600"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4pPr>
            <a:lvl5pPr marL="2057400" indent="-228600"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5pPr>
            <a:lvl6pPr marL="2514600" indent="-228600" defTabSz="350678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6pPr>
            <a:lvl7pPr marL="2971800" indent="-228600" defTabSz="350678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7pPr>
            <a:lvl8pPr marL="3429000" indent="-228600" defTabSz="350678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8pPr>
            <a:lvl9pPr marL="3886200" indent="-228600" defTabSz="350678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Garamond" panose="02020404030301010803" pitchFamily="18" charset="0"/>
                <a:ea typeface="MS PGothic" panose="020B0600070205080204" pitchFamily="34" charset="-128"/>
              </a:defRPr>
            </a:lvl9pPr>
          </a:lstStyle>
          <a:p>
            <a:fld id="{208F719F-D972-4528-BE65-4C814FAC5C9B}" type="slidenum">
              <a:rPr lang="sv-SE" altLang="sv-SE" sz="1200">
                <a:latin typeface="Calibri" panose="020F0502020204030204" pitchFamily="34" charset="0"/>
              </a:rPr>
              <a:pPr/>
              <a:t>1</a:t>
            </a:fld>
            <a:endParaRPr lang="sv-SE" altLang="sv-SE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374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58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2144713" y="4557713"/>
            <a:ext cx="26262012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1876" y="1333587"/>
            <a:ext cx="4514850" cy="23256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  <a:cs typeface="MS PGothic" charset="0"/>
        </a:defRPr>
      </a:lvl2pPr>
      <a:lvl3pPr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  <a:cs typeface="MS PGothic" charset="0"/>
        </a:defRPr>
      </a:lvl3pPr>
      <a:lvl4pPr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  <a:cs typeface="MS PGothic" charset="0"/>
        </a:defRPr>
      </a:lvl4pPr>
      <a:lvl5pPr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  <a:cs typeface="MS PGothic" charset="0"/>
        </a:defRPr>
      </a:lvl5pPr>
      <a:lvl6pPr marL="457200"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>
          <a:solidFill>
            <a:schemeClr val="tx1"/>
          </a:solidFill>
          <a:latin typeface="Arial" panose="020B0604020202020204" pitchFamily="34" charset="0"/>
        </a:defRPr>
      </a:lvl6pPr>
      <a:lvl7pPr marL="914400"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>
          <a:solidFill>
            <a:schemeClr val="tx1"/>
          </a:solidFill>
          <a:latin typeface="Arial" panose="020B0604020202020204" pitchFamily="34" charset="0"/>
        </a:defRPr>
      </a:lvl7pPr>
      <a:lvl8pPr marL="1371600"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>
          <a:solidFill>
            <a:schemeClr val="tx1"/>
          </a:solidFill>
          <a:latin typeface="Arial" panose="020B0604020202020204" pitchFamily="34" charset="0"/>
        </a:defRPr>
      </a:lvl8pPr>
      <a:lvl9pPr marL="1828800" algn="l" defTabSz="30273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45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755650" indent="-755650" algn="l" defTabSz="3027363" rtl="0" eaLnBrk="1" fontAlgn="base" hangingPunct="1">
        <a:lnSpc>
          <a:spcPct val="90000"/>
        </a:lnSpc>
        <a:spcBef>
          <a:spcPts val="3313"/>
        </a:spcBef>
        <a:spcAft>
          <a:spcPct val="0"/>
        </a:spcAft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2270125" indent="-755650" algn="l" defTabSz="3027363" rtl="0" eaLnBrk="1" fontAlgn="base" hangingPunct="1">
        <a:lnSpc>
          <a:spcPct val="90000"/>
        </a:lnSpc>
        <a:spcBef>
          <a:spcPts val="1650"/>
        </a:spcBef>
        <a:spcAft>
          <a:spcPct val="0"/>
        </a:spcAft>
        <a:buFont typeface="Arial" panose="020B0604020202020204" pitchFamily="34" charset="0"/>
        <a:buChar char="•"/>
        <a:defRPr sz="79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3783013" indent="-755650" algn="l" defTabSz="3027363" rtl="0" eaLnBrk="1" fontAlgn="base" hangingPunct="1">
        <a:lnSpc>
          <a:spcPct val="90000"/>
        </a:lnSpc>
        <a:spcBef>
          <a:spcPts val="1650"/>
        </a:spcBef>
        <a:spcAft>
          <a:spcPct val="0"/>
        </a:spcAft>
        <a:buFont typeface="Arial" panose="020B0604020202020204" pitchFamily="34" charset="0"/>
        <a:buChar char="•"/>
        <a:defRPr sz="66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5297488" indent="-755650" algn="l" defTabSz="3027363" rtl="0" eaLnBrk="1" fontAlgn="base" hangingPunct="1">
        <a:lnSpc>
          <a:spcPct val="90000"/>
        </a:lnSpc>
        <a:spcBef>
          <a:spcPts val="1650"/>
        </a:spcBef>
        <a:spcAft>
          <a:spcPct val="0"/>
        </a:spcAft>
        <a:buFont typeface="Arial" panose="020B0604020202020204" pitchFamily="34" charset="0"/>
        <a:buChar char="•"/>
        <a:defRPr sz="59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6810375" indent="-755650" algn="l" defTabSz="3027363" rtl="0" eaLnBrk="1" fontAlgn="base" hangingPunct="1">
        <a:lnSpc>
          <a:spcPct val="90000"/>
        </a:lnSpc>
        <a:spcBef>
          <a:spcPts val="1650"/>
        </a:spcBef>
        <a:spcAft>
          <a:spcPct val="0"/>
        </a:spcAft>
        <a:buFont typeface="Arial" panose="020B0604020202020204" pitchFamily="34" charset="0"/>
        <a:buChar char="•"/>
        <a:defRPr sz="59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Зображення, що містить текст, схема, ескіз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2A4BA39B-2355-60C4-864C-C4AB2A9302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70" y="26967345"/>
            <a:ext cx="13912234" cy="899674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632166" y="5419544"/>
            <a:ext cx="1652111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000" dirty="0"/>
              <a:t>Improving Metal 3D Printing Efficiency with Heat Simulation and AI</a:t>
            </a:r>
            <a:endParaRPr lang="sv-SE" sz="8000" dirty="0">
              <a:latin typeface="+mj-lt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354882" y="8773994"/>
            <a:ext cx="10875010" cy="964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sv-SE" b="1" dirty="0"/>
              <a:t>Aims: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Create a metal 3D printing simulation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Create an accurate thermal simulation using voxel representation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Implement AI decision making to optimize the printing sequence</a:t>
            </a:r>
          </a:p>
        </p:txBody>
      </p:sp>
      <p:cxnSp>
        <p:nvCxnSpPr>
          <p:cNvPr id="10" name="Rak 9"/>
          <p:cNvCxnSpPr/>
          <p:nvPr/>
        </p:nvCxnSpPr>
        <p:spPr>
          <a:xfrm>
            <a:off x="2139950" y="37596966"/>
            <a:ext cx="26271764" cy="50289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ak 15"/>
          <p:cNvCxnSpPr/>
          <p:nvPr/>
        </p:nvCxnSpPr>
        <p:spPr>
          <a:xfrm>
            <a:off x="1949061" y="4610161"/>
            <a:ext cx="26271764" cy="50289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Engelsk logotyp blå. Används under Pressrum/logotyp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380" y="1869534"/>
            <a:ext cx="3482376" cy="179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ruta 13"/>
          <p:cNvSpPr txBox="1"/>
          <p:nvPr/>
        </p:nvSpPr>
        <p:spPr>
          <a:xfrm>
            <a:off x="6041518" y="37936076"/>
            <a:ext cx="92343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JUSTINE Jean</a:t>
            </a:r>
            <a:endParaRPr lang="en-US" sz="6000" dirty="0">
              <a:solidFill>
                <a:srgbClr val="FF0000"/>
              </a:solidFill>
            </a:endParaRPr>
          </a:p>
          <a:p>
            <a:r>
              <a:rPr lang="en-US" sz="6000" dirty="0"/>
              <a:t>Masters-Student in </a:t>
            </a:r>
          </a:p>
          <a:p>
            <a:r>
              <a:rPr lang="en-US" sz="6000" dirty="0"/>
              <a:t>AI &amp; Automation</a:t>
            </a:r>
          </a:p>
          <a:p>
            <a:r>
              <a:rPr lang="en-US" sz="6000" dirty="0"/>
              <a:t>2024-2025</a:t>
            </a:r>
          </a:p>
        </p:txBody>
      </p:sp>
      <p:sp>
        <p:nvSpPr>
          <p:cNvPr id="17" name="textruta 16"/>
          <p:cNvSpPr txBox="1"/>
          <p:nvPr/>
        </p:nvSpPr>
        <p:spPr>
          <a:xfrm>
            <a:off x="17623787" y="37936076"/>
            <a:ext cx="1226772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Division of Production Systems</a:t>
            </a:r>
          </a:p>
          <a:p>
            <a:r>
              <a:rPr lang="en-GB" sz="6000" dirty="0"/>
              <a:t>Department</a:t>
            </a:r>
            <a:r>
              <a:rPr lang="sv-SE" sz="6000" dirty="0"/>
              <a:t> </a:t>
            </a:r>
            <a:r>
              <a:rPr lang="en-GB" sz="6000" dirty="0"/>
              <a:t>of Engineering Science</a:t>
            </a:r>
          </a:p>
          <a:p>
            <a:r>
              <a:rPr lang="en-GB" sz="6000" dirty="0"/>
              <a:t>University West</a:t>
            </a:r>
          </a:p>
          <a:p>
            <a:r>
              <a:rPr lang="en-GB" sz="6000" dirty="0"/>
              <a:t>www.hv.se</a:t>
            </a:r>
          </a:p>
          <a:p>
            <a:endParaRPr lang="sv-SE" sz="6000" dirty="0"/>
          </a:p>
        </p:txBody>
      </p:sp>
      <p:sp>
        <p:nvSpPr>
          <p:cNvPr id="5" name="TextBox 4"/>
          <p:cNvSpPr txBox="1"/>
          <p:nvPr/>
        </p:nvSpPr>
        <p:spPr>
          <a:xfrm>
            <a:off x="24153283" y="36442804"/>
            <a:ext cx="5256567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/>
              <a:t>Date</a:t>
            </a:r>
            <a:r>
              <a:rPr lang="en-GB" sz="5400" dirty="0"/>
              <a:t>: </a:t>
            </a:r>
            <a:r>
              <a:rPr lang="fr-FR" sz="5400" dirty="0"/>
              <a:t>21/05/2025</a:t>
            </a:r>
          </a:p>
          <a:p>
            <a:r>
              <a:rPr lang="en-GB" sz="5400" dirty="0"/>
              <a:t> </a:t>
            </a:r>
          </a:p>
        </p:txBody>
      </p:sp>
      <p:sp>
        <p:nvSpPr>
          <p:cNvPr id="19" name="TextBox 2"/>
          <p:cNvSpPr txBox="1">
            <a:spLocks noChangeArrowheads="1"/>
          </p:cNvSpPr>
          <p:nvPr/>
        </p:nvSpPr>
        <p:spPr bwMode="auto">
          <a:xfrm>
            <a:off x="2139950" y="19576951"/>
            <a:ext cx="10445147" cy="8586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sv-SE" b="1" dirty="0"/>
              <a:t>Methodology: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Robot Studio Simulation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Voxel Based Geometry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Heat Simulation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Reinforcement learning implementation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altLang="sv-SE" dirty="0"/>
          </a:p>
          <a:p>
            <a:pPr marL="857250" indent="-857250">
              <a:buFont typeface="Arial" panose="020B0604020202020204" pitchFamily="34" charset="0"/>
              <a:buChar char="•"/>
            </a:pPr>
            <a:endParaRPr lang="sv-SE" altLang="sv-SE" dirty="0"/>
          </a:p>
        </p:txBody>
      </p:sp>
      <p:sp>
        <p:nvSpPr>
          <p:cNvPr id="28" name="TextBox 2"/>
          <p:cNvSpPr txBox="1">
            <a:spLocks noChangeArrowheads="1"/>
          </p:cNvSpPr>
          <p:nvPr/>
        </p:nvSpPr>
        <p:spPr bwMode="auto">
          <a:xfrm>
            <a:off x="15522818" y="26967345"/>
            <a:ext cx="12888896" cy="964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sv-SE" b="1" dirty="0"/>
              <a:t>Results: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RL achieved up to 13% time saving compare to deterministic algorithm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Successfully reduce waiting time in between pieces print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sv-SE" dirty="0"/>
              <a:t>Validate AI effectiveness across multiple scenarios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sv-SE" altLang="sv-SE" dirty="0"/>
          </a:p>
        </p:txBody>
      </p:sp>
      <p:pic>
        <p:nvPicPr>
          <p:cNvPr id="6" name="Рисунок 5" descr="Зображення, що містить текст, знімок екрана, схем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88C469B-99EA-BC1F-6E95-E176E823AF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178" y="8687352"/>
            <a:ext cx="16707000" cy="17282502"/>
          </a:xfrm>
          <a:prstGeom prst="rect">
            <a:avLst/>
          </a:prstGeom>
        </p:spPr>
      </p:pic>
      <p:pic>
        <p:nvPicPr>
          <p:cNvPr id="11" name="Рисунок 10" descr="Зображення, що містить Обличчя людини, особа, Чоло, Підборіддя&#10;&#10;Автоматически созданное описание">
            <a:extLst>
              <a:ext uri="{FF2B5EF4-FFF2-40B4-BE49-F238E27FC236}">
                <a16:creationId xmlns:a16="http://schemas.microsoft.com/office/drawing/2014/main" id="{B22BBC57-D8A8-A3C1-BC66-E73F8F7A6B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950" y="37834729"/>
            <a:ext cx="3541188" cy="44251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ögskolan Väst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9" id="{437DFA78-DAF2-445D-B263-86D0810B12F3}" vid="{5EE3FAFC-15C2-4AED-937C-C85CA09109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forskarposter-powerpointmall-engelska (1)</Template>
  <TotalTime>413</TotalTime>
  <Words>100</Words>
  <Application>Microsoft Office PowerPoint</Application>
  <PresentationFormat>Personnalisé</PresentationFormat>
  <Paragraphs>25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MS PGothic</vt:lpstr>
      <vt:lpstr>Arial</vt:lpstr>
      <vt:lpstr>Calibri</vt:lpstr>
      <vt:lpstr>Garamond</vt:lpstr>
      <vt:lpstr>Office-tema</vt:lpstr>
      <vt:lpstr>Présentation PowerPoint</vt:lpstr>
    </vt:vector>
  </TitlesOfParts>
  <Company>University West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Victoria Sjöstedt (HV)</dc:creator>
  <cp:lastModifiedBy>Jean</cp:lastModifiedBy>
  <cp:revision>30</cp:revision>
  <dcterms:created xsi:type="dcterms:W3CDTF">2015-05-06T12:27:51Z</dcterms:created>
  <dcterms:modified xsi:type="dcterms:W3CDTF">2025-05-21T15:42:15Z</dcterms:modified>
</cp:coreProperties>
</file>